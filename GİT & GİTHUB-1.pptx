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3" r:id="rId1"/>
  </p:sldMasterIdLst>
  <p:sldIdLst>
    <p:sldId id="256" r:id="rId2"/>
    <p:sldId id="257" r:id="rId3"/>
    <p:sldId id="258" r:id="rId4"/>
    <p:sldId id="259" r:id="rId5"/>
    <p:sldId id="262" r:id="rId6"/>
    <p:sldId id="263" r:id="rId7"/>
    <p:sldId id="264" r:id="rId8"/>
    <p:sldId id="265" r:id="rId9"/>
    <p:sldId id="266" r:id="rId10"/>
    <p:sldId id="267" r:id="rId11"/>
    <p:sldId id="270" r:id="rId12"/>
    <p:sldId id="271" r:id="rId13"/>
    <p:sldId id="268" r:id="rId14"/>
    <p:sldId id="269" r:id="rId15"/>
    <p:sldId id="260" r:id="rId16"/>
    <p:sldId id="26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6" d="100"/>
          <a:sy n="86" d="100"/>
        </p:scale>
        <p:origin x="56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sz="7200" b="1" cap="all" baseline="0">
                <a:solidFill>
                  <a:srgbClr val="FFFFFF"/>
                </a:solidFill>
              </a:defRPr>
            </a:lvl1pPr>
          </a:lstStyle>
          <a:p>
            <a:r>
              <a:rPr lang="tr-TR"/>
              <a:t>Asıl başlık stilini düzenlemek için tıklayın</a:t>
            </a:r>
            <a:endParaRPr lang="en-US" dirty="0"/>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rgbClr val="FFFFFF"/>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tr-TR"/>
              <a:t>Asıl alt başlık stilini düzenlemek için tıklayın</a:t>
            </a:r>
            <a:endParaRPr lang="en-US" dirty="0"/>
          </a:p>
        </p:txBody>
      </p:sp>
      <p:sp>
        <p:nvSpPr>
          <p:cNvPr id="4" name="Date Placeholder 3"/>
          <p:cNvSpPr>
            <a:spLocks noGrp="1"/>
          </p:cNvSpPr>
          <p:nvPr>
            <p:ph type="dt" sz="half" idx="10"/>
          </p:nvPr>
        </p:nvSpPr>
        <p:spPr/>
        <p:txBody>
          <a:bodyPr/>
          <a:lstStyle>
            <a:lvl1pPr>
              <a:defRPr>
                <a:solidFill>
                  <a:srgbClr val="FFFFFF"/>
                </a:solidFill>
              </a:defRPr>
            </a:lvl1pPr>
          </a:lstStyle>
          <a:p>
            <a:fld id="{0E133D9A-BA15-4498-85CE-7CFB9E61D1B3}" type="datetimeFigureOut">
              <a:rPr lang="tr-TR" smtClean="0"/>
              <a:t>5.03.2025</a:t>
            </a:fld>
            <a:endParaRPr lang="tr-TR"/>
          </a:p>
        </p:txBody>
      </p:sp>
      <p:sp>
        <p:nvSpPr>
          <p:cNvPr id="5" name="Footer Placeholder 4"/>
          <p:cNvSpPr>
            <a:spLocks noGrp="1"/>
          </p:cNvSpPr>
          <p:nvPr>
            <p:ph type="ftr" sz="quarter" idx="11"/>
          </p:nvPr>
        </p:nvSpPr>
        <p:spPr/>
        <p:txBody>
          <a:bodyPr/>
          <a:lstStyle>
            <a:lvl1pPr>
              <a:defRPr>
                <a:solidFill>
                  <a:srgbClr val="FFFFFF"/>
                </a:solidFill>
              </a:defRPr>
            </a:lvl1pPr>
          </a:lstStyle>
          <a:p>
            <a:endParaRPr lang="tr-TR"/>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40729B41-B442-40C8-B8C4-7D628B71681B}" type="slidenum">
              <a:rPr lang="tr-TR" smtClean="0"/>
              <a:t>‹#›</a:t>
            </a:fld>
            <a:endParaRPr lang="tr-TR"/>
          </a:p>
        </p:txBody>
      </p:sp>
      <p:cxnSp>
        <p:nvCxnSpPr>
          <p:cNvPr id="8" name="Straight Connector 7"/>
          <p:cNvCxnSpPr/>
          <p:nvPr/>
        </p:nvCxnSpPr>
        <p:spPr>
          <a:xfrm>
            <a:off x="1978660" y="3733800"/>
            <a:ext cx="82296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256615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idx="1"/>
          </p:nvPr>
        </p:nvSpPr>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0E133D9A-BA15-4498-85CE-7CFB9E61D1B3}" type="datetimeFigureOut">
              <a:rPr lang="tr-TR" smtClean="0"/>
              <a:t>5.03.2025</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40729B41-B442-40C8-B8C4-7D628B71681B}" type="slidenum">
              <a:rPr lang="tr-TR" smtClean="0"/>
              <a:t>‹#›</a:t>
            </a:fld>
            <a:endParaRPr lang="tr-TR"/>
          </a:p>
        </p:txBody>
      </p:sp>
    </p:spTree>
    <p:extLst>
      <p:ext uri="{BB962C8B-B14F-4D97-AF65-F5344CB8AC3E}">
        <p14:creationId xmlns:p14="http://schemas.microsoft.com/office/powerpoint/2010/main" val="16048005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Title 1"/>
          <p:cNvSpPr>
            <a:spLocks noGrp="1"/>
          </p:cNvSpPr>
          <p:nvPr>
            <p:ph type="title"/>
          </p:nvPr>
        </p:nvSpPr>
        <p:spPr>
          <a:xfrm>
            <a:off x="1106424" y="1173575"/>
            <a:ext cx="9966960" cy="2926080"/>
          </a:xfrm>
        </p:spPr>
        <p:txBody>
          <a:bodyPr anchor="b">
            <a:noAutofit/>
          </a:bodyPr>
          <a:lstStyle>
            <a:lvl1pPr algn="ctr">
              <a:lnSpc>
                <a:spcPct val="85000"/>
              </a:lnSpc>
              <a:defRPr sz="7200" b="0" cap="all" baseline="0"/>
            </a:lvl1pPr>
          </a:lstStyle>
          <a:p>
            <a:r>
              <a:rPr lang="tr-TR"/>
              <a:t>Asıl başlık stilini düzenlemek için tıklayın</a:t>
            </a:r>
            <a:endParaRPr lang="en-US" dirty="0"/>
          </a:p>
        </p:txBody>
      </p:sp>
      <p:sp>
        <p:nvSpPr>
          <p:cNvPr id="3" name="Text Placeholder 2"/>
          <p:cNvSpPr>
            <a:spLocks noGrp="1"/>
          </p:cNvSpPr>
          <p:nvPr>
            <p:ph type="body" idx="1"/>
          </p:nvPr>
        </p:nvSpPr>
        <p:spPr>
          <a:xfrm>
            <a:off x="1709928" y="4154520"/>
            <a:ext cx="8769096" cy="1363806"/>
          </a:xfrm>
        </p:spPr>
        <p:txBody>
          <a:bodyPr anchor="t">
            <a:normAutofit/>
          </a:bodyPr>
          <a:lstStyle>
            <a:lvl1pPr marL="0" indent="0" algn="ctr">
              <a:buNone/>
              <a:defRPr sz="2200">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a:t>
            </a:r>
          </a:p>
        </p:txBody>
      </p:sp>
      <p:sp>
        <p:nvSpPr>
          <p:cNvPr id="4" name="Date Placeholder 3"/>
          <p:cNvSpPr>
            <a:spLocks noGrp="1"/>
          </p:cNvSpPr>
          <p:nvPr>
            <p:ph type="dt" sz="half" idx="10"/>
          </p:nvPr>
        </p:nvSpPr>
        <p:spPr/>
        <p:txBody>
          <a:bodyPr/>
          <a:lstStyle/>
          <a:p>
            <a:fld id="{0E133D9A-BA15-4498-85CE-7CFB9E61D1B3}" type="datetimeFigureOut">
              <a:rPr lang="tr-TR" smtClean="0"/>
              <a:t>5.03.2025</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40729B41-B442-40C8-B8C4-7D628B71681B}" type="slidenum">
              <a:rPr lang="tr-TR" smtClean="0"/>
              <a:t>‹#›</a:t>
            </a:fld>
            <a:endParaRPr lang="tr-TR"/>
          </a:p>
        </p:txBody>
      </p:sp>
      <p:cxnSp>
        <p:nvCxnSpPr>
          <p:cNvPr id="7" name="Straight Connector 6"/>
          <p:cNvCxnSpPr/>
          <p:nvPr/>
        </p:nvCxnSpPr>
        <p:spPr>
          <a:xfrm>
            <a:off x="1981200" y="4020408"/>
            <a:ext cx="82296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45550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sz="half" idx="1"/>
          </p:nvPr>
        </p:nvSpPr>
        <p:spPr>
          <a:xfrm>
            <a:off x="1143000" y="2057399"/>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Content Placeholder 3"/>
          <p:cNvSpPr>
            <a:spLocks noGrp="1"/>
          </p:cNvSpPr>
          <p:nvPr>
            <p:ph sz="half" idx="2"/>
          </p:nvPr>
        </p:nvSpPr>
        <p:spPr>
          <a:xfrm>
            <a:off x="6267612" y="2057400"/>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Date Placeholder 4"/>
          <p:cNvSpPr>
            <a:spLocks noGrp="1"/>
          </p:cNvSpPr>
          <p:nvPr>
            <p:ph type="dt" sz="half" idx="10"/>
          </p:nvPr>
        </p:nvSpPr>
        <p:spPr/>
        <p:txBody>
          <a:bodyPr/>
          <a:lstStyle/>
          <a:p>
            <a:fld id="{0E133D9A-BA15-4498-85CE-7CFB9E61D1B3}" type="datetimeFigureOut">
              <a:rPr lang="tr-TR" smtClean="0"/>
              <a:t>5.03.2025</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40729B41-B442-40C8-B8C4-7D628B71681B}" type="slidenum">
              <a:rPr lang="tr-TR" smtClean="0"/>
              <a:t>‹#›</a:t>
            </a:fld>
            <a:endParaRPr lang="tr-TR"/>
          </a:p>
        </p:txBody>
      </p:sp>
    </p:spTree>
    <p:extLst>
      <p:ext uri="{BB962C8B-B14F-4D97-AF65-F5344CB8AC3E}">
        <p14:creationId xmlns:p14="http://schemas.microsoft.com/office/powerpoint/2010/main" val="1128130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tr-TR"/>
              <a:t>Asıl başlık stilini düzenlemek için tıklayın</a:t>
            </a:r>
            <a:endParaRPr lang="en-US" dirty="0"/>
          </a:p>
        </p:txBody>
      </p:sp>
      <p:sp>
        <p:nvSpPr>
          <p:cNvPr id="3" name="Text Placeholder 2"/>
          <p:cNvSpPr>
            <a:spLocks noGrp="1"/>
          </p:cNvSpPr>
          <p:nvPr>
            <p:ph type="body" idx="1"/>
          </p:nvPr>
        </p:nvSpPr>
        <p:spPr>
          <a:xfrm>
            <a:off x="1143000" y="2001511"/>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a:t>
            </a:r>
          </a:p>
        </p:txBody>
      </p:sp>
      <p:sp>
        <p:nvSpPr>
          <p:cNvPr id="4" name="Content Placeholder 3"/>
          <p:cNvSpPr>
            <a:spLocks noGrp="1"/>
          </p:cNvSpPr>
          <p:nvPr>
            <p:ph sz="half" idx="2"/>
          </p:nvPr>
        </p:nvSpPr>
        <p:spPr>
          <a:xfrm>
            <a:off x="1143000" y="2721483"/>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Text Placeholder 4"/>
          <p:cNvSpPr>
            <a:spLocks noGrp="1"/>
          </p:cNvSpPr>
          <p:nvPr>
            <p:ph type="body" sz="quarter" idx="3"/>
          </p:nvPr>
        </p:nvSpPr>
        <p:spPr>
          <a:xfrm>
            <a:off x="6269173" y="1999032"/>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a:t>
            </a:r>
          </a:p>
        </p:txBody>
      </p:sp>
      <p:sp>
        <p:nvSpPr>
          <p:cNvPr id="6" name="Content Placeholder 5"/>
          <p:cNvSpPr>
            <a:spLocks noGrp="1"/>
          </p:cNvSpPr>
          <p:nvPr>
            <p:ph sz="quarter" idx="4"/>
          </p:nvPr>
        </p:nvSpPr>
        <p:spPr>
          <a:xfrm>
            <a:off x="6269173" y="2719322"/>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6"/>
          <p:cNvSpPr>
            <a:spLocks noGrp="1"/>
          </p:cNvSpPr>
          <p:nvPr>
            <p:ph type="dt" sz="half" idx="10"/>
          </p:nvPr>
        </p:nvSpPr>
        <p:spPr/>
        <p:txBody>
          <a:bodyPr/>
          <a:lstStyle/>
          <a:p>
            <a:fld id="{0E133D9A-BA15-4498-85CE-7CFB9E61D1B3}" type="datetimeFigureOut">
              <a:rPr lang="tr-TR" smtClean="0"/>
              <a:t>5.03.2025</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40729B41-B442-40C8-B8C4-7D628B71681B}" type="slidenum">
              <a:rPr lang="tr-TR" smtClean="0"/>
              <a:t>‹#›</a:t>
            </a:fld>
            <a:endParaRPr lang="tr-TR"/>
          </a:p>
        </p:txBody>
      </p:sp>
    </p:spTree>
    <p:extLst>
      <p:ext uri="{BB962C8B-B14F-4D97-AF65-F5344CB8AC3E}">
        <p14:creationId xmlns:p14="http://schemas.microsoft.com/office/powerpoint/2010/main" val="30371121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Date Placeholder 2"/>
          <p:cNvSpPr>
            <a:spLocks noGrp="1"/>
          </p:cNvSpPr>
          <p:nvPr>
            <p:ph type="dt" sz="half" idx="10"/>
          </p:nvPr>
        </p:nvSpPr>
        <p:spPr/>
        <p:txBody>
          <a:bodyPr/>
          <a:lstStyle/>
          <a:p>
            <a:fld id="{0E133D9A-BA15-4498-85CE-7CFB9E61D1B3}" type="datetimeFigureOut">
              <a:rPr lang="tr-TR" smtClean="0"/>
              <a:t>5.03.2025</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40729B41-B442-40C8-B8C4-7D628B71681B}" type="slidenum">
              <a:rPr lang="tr-TR" smtClean="0"/>
              <a:t>‹#›</a:t>
            </a:fld>
            <a:endParaRPr lang="tr-TR"/>
          </a:p>
        </p:txBody>
      </p:sp>
    </p:spTree>
    <p:extLst>
      <p:ext uri="{BB962C8B-B14F-4D97-AF65-F5344CB8AC3E}">
        <p14:creationId xmlns:p14="http://schemas.microsoft.com/office/powerpoint/2010/main" val="5593124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E133D9A-BA15-4498-85CE-7CFB9E61D1B3}" type="datetimeFigureOut">
              <a:rPr lang="tr-TR" smtClean="0"/>
              <a:t>5.03.2025</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40729B41-B442-40C8-B8C4-7D628B71681B}" type="slidenum">
              <a:rPr lang="tr-TR" smtClean="0"/>
              <a:t>‹#›</a:t>
            </a:fld>
            <a:endParaRPr lang="tr-TR"/>
          </a:p>
        </p:txBody>
      </p:sp>
    </p:spTree>
    <p:extLst>
      <p:ext uri="{BB962C8B-B14F-4D97-AF65-F5344CB8AC3E}">
        <p14:creationId xmlns:p14="http://schemas.microsoft.com/office/powerpoint/2010/main" val="38718413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tr-TR"/>
              <a:t>Asıl başlık stilini düzenlemek için tıklayın</a:t>
            </a:r>
            <a:endParaRPr lang="en-US" dirty="0"/>
          </a:p>
        </p:txBody>
      </p:sp>
      <p:sp>
        <p:nvSpPr>
          <p:cNvPr id="3" name="Content Placeholder 2"/>
          <p:cNvSpPr>
            <a:spLocks noGrp="1"/>
          </p:cNvSpPr>
          <p:nvPr>
            <p:ph idx="1"/>
          </p:nvPr>
        </p:nvSpPr>
        <p:spPr>
          <a:xfrm>
            <a:off x="5852159" y="1097280"/>
            <a:ext cx="5212080" cy="46634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Text Placeholder 3"/>
          <p:cNvSpPr>
            <a:spLocks noGrp="1"/>
          </p:cNvSpPr>
          <p:nvPr>
            <p:ph type="body" sz="half" idx="2"/>
          </p:nvPr>
        </p:nvSpPr>
        <p:spPr>
          <a:xfrm>
            <a:off x="1143000" y="2834640"/>
            <a:ext cx="3931920" cy="301752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a:t>
            </a:r>
          </a:p>
        </p:txBody>
      </p:sp>
      <p:sp>
        <p:nvSpPr>
          <p:cNvPr id="5" name="Date Placeholder 4"/>
          <p:cNvSpPr>
            <a:spLocks noGrp="1"/>
          </p:cNvSpPr>
          <p:nvPr>
            <p:ph type="dt" sz="half" idx="10"/>
          </p:nvPr>
        </p:nvSpPr>
        <p:spPr/>
        <p:txBody>
          <a:bodyPr/>
          <a:lstStyle/>
          <a:p>
            <a:fld id="{0E133D9A-BA15-4498-85CE-7CFB9E61D1B3}" type="datetimeFigureOut">
              <a:rPr lang="tr-TR" smtClean="0"/>
              <a:t>5.03.2025</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40729B41-B442-40C8-B8C4-7D628B71681B}" type="slidenum">
              <a:rPr lang="tr-TR" smtClean="0"/>
              <a:t>‹#›</a:t>
            </a:fld>
            <a:endParaRPr lang="tr-TR"/>
          </a:p>
        </p:txBody>
      </p:sp>
    </p:spTree>
    <p:extLst>
      <p:ext uri="{BB962C8B-B14F-4D97-AF65-F5344CB8AC3E}">
        <p14:creationId xmlns:p14="http://schemas.microsoft.com/office/powerpoint/2010/main" val="28647296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tr-TR"/>
              <a:t>Asıl başlık stilini düzenlemek için tıklayın</a:t>
            </a:r>
            <a:endParaRPr lang="en-US" dirty="0"/>
          </a:p>
        </p:txBody>
      </p:sp>
      <p:sp>
        <p:nvSpPr>
          <p:cNvPr id="3" name="Picture Placeholder 2"/>
          <p:cNvSpPr>
            <a:spLocks noGrp="1" noChangeAspect="1"/>
          </p:cNvSpPr>
          <p:nvPr>
            <p:ph type="pic" idx="1"/>
          </p:nvPr>
        </p:nvSpPr>
        <p:spPr>
          <a:xfrm>
            <a:off x="5413248" y="1069847"/>
            <a:ext cx="6099048" cy="4800600"/>
          </a:xfrm>
        </p:spPr>
        <p:txBody>
          <a:bodyPr lIns="274320" tIns="182880"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tr-TR"/>
              <a:t>Resim eklemek için simgeye tıklayın</a:t>
            </a:r>
            <a:endParaRPr lang="en-US" dirty="0"/>
          </a:p>
        </p:txBody>
      </p:sp>
      <p:sp>
        <p:nvSpPr>
          <p:cNvPr id="4" name="Text Placeholder 3"/>
          <p:cNvSpPr>
            <a:spLocks noGrp="1"/>
          </p:cNvSpPr>
          <p:nvPr>
            <p:ph type="body" sz="half" idx="2"/>
          </p:nvPr>
        </p:nvSpPr>
        <p:spPr>
          <a:xfrm>
            <a:off x="1143000" y="2834640"/>
            <a:ext cx="3931920" cy="288036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a:t>
            </a:r>
          </a:p>
        </p:txBody>
      </p:sp>
      <p:sp>
        <p:nvSpPr>
          <p:cNvPr id="5" name="Date Placeholder 4"/>
          <p:cNvSpPr>
            <a:spLocks noGrp="1"/>
          </p:cNvSpPr>
          <p:nvPr>
            <p:ph type="dt" sz="half" idx="10"/>
          </p:nvPr>
        </p:nvSpPr>
        <p:spPr/>
        <p:txBody>
          <a:bodyPr/>
          <a:lstStyle/>
          <a:p>
            <a:fld id="{0E133D9A-BA15-4498-85CE-7CFB9E61D1B3}" type="datetimeFigureOut">
              <a:rPr lang="tr-TR" smtClean="0"/>
              <a:t>5.03.2025</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40729B41-B442-40C8-B8C4-7D628B71681B}" type="slidenum">
              <a:rPr lang="tr-TR" smtClean="0"/>
              <a:t>‹#›</a:t>
            </a:fld>
            <a:endParaRPr lang="tr-TR"/>
          </a:p>
        </p:txBody>
      </p:sp>
    </p:spTree>
    <p:extLst>
      <p:ext uri="{BB962C8B-B14F-4D97-AF65-F5344CB8AC3E}">
        <p14:creationId xmlns:p14="http://schemas.microsoft.com/office/powerpoint/2010/main" val="9986378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Vertical Text Placeholder 2"/>
          <p:cNvSpPr>
            <a:spLocks noGrp="1"/>
          </p:cNvSpPr>
          <p:nvPr>
            <p:ph type="body" orient="vert" idx="1"/>
          </p:nvPr>
        </p:nvSpPr>
        <p:spPr/>
        <p:txBody>
          <a:bodyPr vert="eaVert"/>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0E133D9A-BA15-4498-85CE-7CFB9E61D1B3}" type="datetimeFigureOut">
              <a:rPr lang="tr-TR" smtClean="0"/>
              <a:t>5.03.2025</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40729B41-B442-40C8-B8C4-7D628B71681B}" type="slidenum">
              <a:rPr lang="tr-TR" smtClean="0"/>
              <a:t>‹#›</a:t>
            </a:fld>
            <a:endParaRPr lang="tr-TR"/>
          </a:p>
        </p:txBody>
      </p:sp>
    </p:spTree>
    <p:extLst>
      <p:ext uri="{BB962C8B-B14F-4D97-AF65-F5344CB8AC3E}">
        <p14:creationId xmlns:p14="http://schemas.microsoft.com/office/powerpoint/2010/main" val="8947325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324100" cy="5410200"/>
          </a:xfrm>
        </p:spPr>
        <p:txBody>
          <a:bodyPr vert="eaVert"/>
          <a:lstStyle/>
          <a:p>
            <a:r>
              <a:rPr lang="tr-TR"/>
              <a:t>Asıl başlık stilini düzenlemek için tıklayın</a:t>
            </a:r>
            <a:endParaRPr lang="en-US" dirty="0"/>
          </a:p>
        </p:txBody>
      </p:sp>
      <p:sp>
        <p:nvSpPr>
          <p:cNvPr id="3" name="Vertical Text Placeholder 2"/>
          <p:cNvSpPr>
            <a:spLocks noGrp="1"/>
          </p:cNvSpPr>
          <p:nvPr>
            <p:ph type="body" orient="vert" idx="1"/>
          </p:nvPr>
        </p:nvSpPr>
        <p:spPr>
          <a:xfrm>
            <a:off x="1143000" y="762000"/>
            <a:ext cx="7429500" cy="5410200"/>
          </a:xfrm>
        </p:spPr>
        <p:txBody>
          <a:bodyPr vert="eaVert"/>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0E133D9A-BA15-4498-85CE-7CFB9E61D1B3}" type="datetimeFigureOut">
              <a:rPr lang="tr-TR" smtClean="0"/>
              <a:t>5.03.2025</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40729B41-B442-40C8-B8C4-7D628B71681B}" type="slidenum">
              <a:rPr lang="tr-TR" smtClean="0"/>
              <a:t>‹#›</a:t>
            </a:fld>
            <a:endParaRPr lang="tr-TR"/>
          </a:p>
        </p:txBody>
      </p:sp>
    </p:spTree>
    <p:extLst>
      <p:ext uri="{BB962C8B-B14F-4D97-AF65-F5344CB8AC3E}">
        <p14:creationId xmlns:p14="http://schemas.microsoft.com/office/powerpoint/2010/main" val="5813303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143000" y="609600"/>
            <a:ext cx="9875520" cy="1356360"/>
          </a:xfrm>
          <a:prstGeom prst="rect">
            <a:avLst/>
          </a:prstGeom>
        </p:spPr>
        <p:txBody>
          <a:bodyPr vert="horz" lIns="91440" tIns="45720" rIns="91440" bIns="45720" rtlCol="0" anchor="ctr">
            <a:normAutofit/>
          </a:bodyPr>
          <a:lstStyle/>
          <a:p>
            <a:r>
              <a:rPr lang="tr-TR"/>
              <a:t>Asıl başlık stilini düzenlemek için tıklayın</a:t>
            </a:r>
            <a:endParaRPr lang="en-US" dirty="0"/>
          </a:p>
        </p:txBody>
      </p:sp>
      <p:sp>
        <p:nvSpPr>
          <p:cNvPr id="3" name="Text Placeholder 2"/>
          <p:cNvSpPr>
            <a:spLocks noGrp="1"/>
          </p:cNvSpPr>
          <p:nvPr>
            <p:ph type="body" idx="1"/>
          </p:nvPr>
        </p:nvSpPr>
        <p:spPr>
          <a:xfrm>
            <a:off x="1143000" y="2057400"/>
            <a:ext cx="9872871" cy="4038600"/>
          </a:xfrm>
          <a:prstGeom prst="rect">
            <a:avLst/>
          </a:prstGeom>
        </p:spPr>
        <p:txBody>
          <a:bodyPr vert="horz" lIns="91440" tIns="45720" rIns="91440" bIns="45720" rtlCol="0">
            <a:normAutofit/>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2"/>
          </p:nvPr>
        </p:nvSpPr>
        <p:spPr>
          <a:xfrm>
            <a:off x="1142996" y="6223828"/>
            <a:ext cx="2329074" cy="365125"/>
          </a:xfrm>
          <a:prstGeom prst="rect">
            <a:avLst/>
          </a:prstGeom>
        </p:spPr>
        <p:txBody>
          <a:bodyPr vert="horz" lIns="91440" tIns="45720" rIns="91440" bIns="45720" rtlCol="0" anchor="ctr"/>
          <a:lstStyle>
            <a:lvl1pPr algn="l">
              <a:defRPr sz="1200">
                <a:solidFill>
                  <a:schemeClr val="accent1"/>
                </a:solidFill>
              </a:defRPr>
            </a:lvl1pPr>
          </a:lstStyle>
          <a:p>
            <a:fld id="{0E133D9A-BA15-4498-85CE-7CFB9E61D1B3}" type="datetimeFigureOut">
              <a:rPr lang="tr-TR" smtClean="0"/>
              <a:t>5.03.2025</a:t>
            </a:fld>
            <a:endParaRPr lang="tr-TR"/>
          </a:p>
        </p:txBody>
      </p:sp>
      <p:sp>
        <p:nvSpPr>
          <p:cNvPr id="5" name="Footer Placeholder 4"/>
          <p:cNvSpPr>
            <a:spLocks noGrp="1"/>
          </p:cNvSpPr>
          <p:nvPr>
            <p:ph type="ftr" sz="quarter" idx="3"/>
          </p:nvPr>
        </p:nvSpPr>
        <p:spPr>
          <a:xfrm>
            <a:off x="3949148" y="6223828"/>
            <a:ext cx="4717774" cy="365125"/>
          </a:xfrm>
          <a:prstGeom prst="rect">
            <a:avLst/>
          </a:prstGeom>
        </p:spPr>
        <p:txBody>
          <a:bodyPr vert="horz" lIns="91440" tIns="45720" rIns="91440" bIns="45720" rtlCol="0" anchor="ctr"/>
          <a:lstStyle>
            <a:lvl1pPr algn="ctr">
              <a:defRPr sz="1200">
                <a:solidFill>
                  <a:schemeClr val="accent1"/>
                </a:solidFill>
              </a:defRPr>
            </a:lvl1pPr>
          </a:lstStyle>
          <a:p>
            <a:endParaRPr lang="tr-TR"/>
          </a:p>
        </p:txBody>
      </p:sp>
      <p:sp>
        <p:nvSpPr>
          <p:cNvPr id="6" name="Slide Number Placeholder 5"/>
          <p:cNvSpPr>
            <a:spLocks noGrp="1"/>
          </p:cNvSpPr>
          <p:nvPr>
            <p:ph type="sldNum" sz="quarter" idx="4"/>
          </p:nvPr>
        </p:nvSpPr>
        <p:spPr>
          <a:xfrm>
            <a:off x="9329530" y="6223828"/>
            <a:ext cx="1706217" cy="365125"/>
          </a:xfrm>
          <a:prstGeom prst="rect">
            <a:avLst/>
          </a:prstGeom>
        </p:spPr>
        <p:txBody>
          <a:bodyPr vert="horz" lIns="91440" tIns="45720" rIns="91440" bIns="45720" rtlCol="0" anchor="ctr"/>
          <a:lstStyle>
            <a:lvl1pPr algn="r">
              <a:defRPr sz="1200">
                <a:solidFill>
                  <a:schemeClr val="accent1"/>
                </a:solidFill>
              </a:defRPr>
            </a:lvl1pPr>
          </a:lstStyle>
          <a:p>
            <a:fld id="{40729B41-B442-40C8-B8C4-7D628B71681B}" type="slidenum">
              <a:rPr lang="tr-TR" smtClean="0"/>
              <a:t>‹#›</a:t>
            </a:fld>
            <a:endParaRPr lang="tr-TR"/>
          </a:p>
        </p:txBody>
      </p:sp>
    </p:spTree>
    <p:extLst>
      <p:ext uri="{BB962C8B-B14F-4D97-AF65-F5344CB8AC3E}">
        <p14:creationId xmlns:p14="http://schemas.microsoft.com/office/powerpoint/2010/main" val="90656510"/>
      </p:ext>
    </p:extLst>
  </p:cSld>
  <p:clrMap bg1="lt1" tx1="dk1" bg2="lt2" tx2="dk2" accent1="accent1" accent2="accent2" accent3="accent3" accent4="accent4" accent5="accent5" accent6="accent6" hlink="hlink" folHlink="folHlink"/>
  <p:sldLayoutIdLst>
    <p:sldLayoutId id="2147483784" r:id="rId1"/>
    <p:sldLayoutId id="2147483785" r:id="rId2"/>
    <p:sldLayoutId id="2147483786" r:id="rId3"/>
    <p:sldLayoutId id="2147483787" r:id="rId4"/>
    <p:sldLayoutId id="2147483788" r:id="rId5"/>
    <p:sldLayoutId id="2147483789" r:id="rId6"/>
    <p:sldLayoutId id="2147483790" r:id="rId7"/>
    <p:sldLayoutId id="2147483791" r:id="rId8"/>
    <p:sldLayoutId id="2147483792" r:id="rId9"/>
    <p:sldLayoutId id="2147483793" r:id="rId10"/>
    <p:sldLayoutId id="2147483794" r:id="rId11"/>
  </p:sldLayoutIdLst>
  <p:txStyles>
    <p:titleStyle>
      <a:lvl1pPr algn="l" defTabSz="914400" rtl="0" eaLnBrk="1" latinLnBrk="0" hangingPunct="1">
        <a:lnSpc>
          <a:spcPct val="90000"/>
        </a:lnSpc>
        <a:spcBef>
          <a:spcPct val="0"/>
        </a:spcBef>
        <a:buNone/>
        <a:defRPr sz="4400" kern="1200">
          <a:solidFill>
            <a:schemeClr val="accent1"/>
          </a:solidFill>
          <a:latin typeface="+mj-lt"/>
          <a:ea typeface="+mj-ea"/>
          <a:cs typeface="+mj-cs"/>
        </a:defRPr>
      </a:lvl1pPr>
    </p:titleStyle>
    <p:bodyStyle>
      <a:lvl1pPr marL="228600" indent="-182880" algn="l" defTabSz="914400" rtl="0" eaLnBrk="1" latinLnBrk="0" hangingPunct="1">
        <a:lnSpc>
          <a:spcPct val="90000"/>
        </a:lnSpc>
        <a:spcBef>
          <a:spcPts val="1400"/>
        </a:spcBef>
        <a:buClr>
          <a:schemeClr val="accent1"/>
        </a:buClr>
        <a:buSzPct val="80000"/>
        <a:buFont typeface="Corbel" pitchFamily="34" charset="0"/>
        <a:buChar char="•"/>
        <a:defRPr sz="2200" kern="1200">
          <a:solidFill>
            <a:schemeClr val="accent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2000" kern="1200">
          <a:solidFill>
            <a:schemeClr val="accent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800" kern="1200">
          <a:solidFill>
            <a:schemeClr val="accent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hyperlink" Target="https://git-scm.com/downloads" TargetMode="Externa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4.png"/></Relationships>
</file>

<file path=ppt/slides/_rels/slide6.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png"/><Relationship Id="rId1" Type="http://schemas.openxmlformats.org/officeDocument/2006/relationships/slideLayout" Target="../slideLayouts/slideLayout4.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 Id="rId9" Type="http://schemas.openxmlformats.org/officeDocument/2006/relationships/image" Target="../media/image22.png"/></Relationships>
</file>

<file path=ppt/slides/_rels/slide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png"/></Relationships>
</file>

<file path=ppt/slides/_rels/slide1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hyperlink" Target="https://github.com/" TargetMode="Externa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1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1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www.tolgacibikci.com/git-nedir-nasil-kurulur/" TargetMode="External"/><Relationship Id="rId7" Type="http://schemas.openxmlformats.org/officeDocument/2006/relationships/hyperlink" Target="https://www.techcareer.net/blog/git-nedir-nasil-kullanilir" TargetMode="External"/><Relationship Id="rId2" Type="http://schemas.openxmlformats.org/officeDocument/2006/relationships/hyperlink" Target="https://coderspace.io/sozluk/github/" TargetMode="External"/><Relationship Id="rId1" Type="http://schemas.openxmlformats.org/officeDocument/2006/relationships/slideLayout" Target="../slideLayouts/slideLayout2.xml"/><Relationship Id="rId6" Type="http://schemas.openxmlformats.org/officeDocument/2006/relationships/hyperlink" Target="https://tr.wikipedia.org/wiki/Git_(yaz%C4%B1l%C4%B1m)" TargetMode="External"/><Relationship Id="rId5" Type="http://schemas.openxmlformats.org/officeDocument/2006/relationships/hyperlink" Target="https://youtu.be/XCFaI2Zn2L4?si=58qT99qv22cEK9tF" TargetMode="External"/><Relationship Id="rId4" Type="http://schemas.openxmlformats.org/officeDocument/2006/relationships/hyperlink" Target="https://argenova.com.tr/en-cok-kullanilan-git-komutlari-ornekli"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a:extLst>
              <a:ext uri="{FF2B5EF4-FFF2-40B4-BE49-F238E27FC236}">
                <a16:creationId xmlns:a16="http://schemas.microsoft.com/office/drawing/2014/main" id="{0AF04823-879B-45C7-82BC-5D0ABF196783}"/>
              </a:ext>
            </a:extLst>
          </p:cNvPr>
          <p:cNvSpPr>
            <a:spLocks noGrp="1"/>
          </p:cNvSpPr>
          <p:nvPr>
            <p:ph type="ctrTitle"/>
          </p:nvPr>
        </p:nvSpPr>
        <p:spPr>
          <a:xfrm>
            <a:off x="1524000" y="1041400"/>
            <a:ext cx="9144000" cy="2387600"/>
          </a:xfrm>
        </p:spPr>
        <p:txBody>
          <a:bodyPr/>
          <a:lstStyle/>
          <a:p>
            <a:endParaRPr lang="tr-TR" b="1" dirty="0">
              <a:solidFill>
                <a:schemeClr val="tx1"/>
              </a:solidFill>
            </a:endParaRPr>
          </a:p>
        </p:txBody>
      </p:sp>
      <p:pic>
        <p:nvPicPr>
          <p:cNvPr id="7" name="Resim 6">
            <a:extLst>
              <a:ext uri="{FF2B5EF4-FFF2-40B4-BE49-F238E27FC236}">
                <a16:creationId xmlns:a16="http://schemas.microsoft.com/office/drawing/2014/main" id="{C5F0E998-B4F1-469F-A466-FA4E3D769F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3285993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a:extLst>
              <a:ext uri="{FF2B5EF4-FFF2-40B4-BE49-F238E27FC236}">
                <a16:creationId xmlns:a16="http://schemas.microsoft.com/office/drawing/2014/main" id="{7F32EFCF-A867-4E9F-BA4E-15D6724399C8}"/>
              </a:ext>
            </a:extLst>
          </p:cNvPr>
          <p:cNvSpPr>
            <a:spLocks noGrp="1"/>
          </p:cNvSpPr>
          <p:nvPr>
            <p:ph type="title"/>
          </p:nvPr>
        </p:nvSpPr>
        <p:spPr/>
        <p:txBody>
          <a:bodyPr/>
          <a:lstStyle/>
          <a:p>
            <a:pPr algn="ctr"/>
            <a:r>
              <a:rPr lang="tr-TR" u="sng" dirty="0">
                <a:solidFill>
                  <a:schemeClr val="tx1"/>
                </a:solidFill>
                <a:effectLst>
                  <a:outerShdw blurRad="38100" dist="38100" dir="2700000" algn="tl">
                    <a:srgbClr val="000000">
                      <a:alpha val="43137"/>
                    </a:srgbClr>
                  </a:outerShdw>
                </a:effectLst>
              </a:rPr>
              <a:t>İçindekiler</a:t>
            </a:r>
          </a:p>
        </p:txBody>
      </p:sp>
      <p:sp>
        <p:nvSpPr>
          <p:cNvPr id="3" name="İçerik Yer Tutucusu 2">
            <a:extLst>
              <a:ext uri="{FF2B5EF4-FFF2-40B4-BE49-F238E27FC236}">
                <a16:creationId xmlns:a16="http://schemas.microsoft.com/office/drawing/2014/main" id="{F7B9DC41-7F09-4757-A953-9E4333EC6ADA}"/>
              </a:ext>
            </a:extLst>
          </p:cNvPr>
          <p:cNvSpPr>
            <a:spLocks noGrp="1"/>
          </p:cNvSpPr>
          <p:nvPr>
            <p:ph idx="1"/>
          </p:nvPr>
        </p:nvSpPr>
        <p:spPr/>
        <p:txBody>
          <a:bodyPr>
            <a:normAutofit/>
          </a:bodyPr>
          <a:lstStyle/>
          <a:p>
            <a:pPr>
              <a:buClr>
                <a:schemeClr val="tx1"/>
              </a:buClr>
              <a:buFont typeface="Wingdings" panose="05000000000000000000" pitchFamily="2" charset="2"/>
              <a:buChar char="Ø"/>
            </a:pPr>
            <a:r>
              <a:rPr lang="tr-TR" dirty="0">
                <a:solidFill>
                  <a:schemeClr val="tx1"/>
                </a:solidFill>
              </a:rPr>
              <a:t>Git ( Git nedir, kim tarafından geliştirilmiştir, görevi nedir, ne amaçla kullanılmaktadır?) (sayfa 3)</a:t>
            </a:r>
          </a:p>
          <a:p>
            <a:pPr>
              <a:buClr>
                <a:schemeClr val="tx1"/>
              </a:buClr>
              <a:buFont typeface="Wingdings" panose="05000000000000000000" pitchFamily="2" charset="2"/>
              <a:buChar char="Ø"/>
            </a:pPr>
            <a:r>
              <a:rPr lang="tr-TR" dirty="0">
                <a:solidFill>
                  <a:schemeClr val="tx1"/>
                </a:solidFill>
              </a:rPr>
              <a:t>Git’in Temini ve Kurulumu (sayfa 4-7)</a:t>
            </a:r>
          </a:p>
          <a:p>
            <a:pPr>
              <a:buClr>
                <a:schemeClr val="tx1"/>
              </a:buClr>
              <a:buFont typeface="Wingdings" panose="05000000000000000000" pitchFamily="2" charset="2"/>
              <a:buChar char="Ø"/>
            </a:pPr>
            <a:r>
              <a:rPr lang="tr-TR" dirty="0">
                <a:solidFill>
                  <a:schemeClr val="tx1"/>
                </a:solidFill>
              </a:rPr>
              <a:t>Git Nasıl Kullanılır? (sayfa 8-9)</a:t>
            </a:r>
          </a:p>
          <a:p>
            <a:pPr>
              <a:buClr>
                <a:schemeClr val="tx1"/>
              </a:buClr>
              <a:buFont typeface="Wingdings" panose="05000000000000000000" pitchFamily="2" charset="2"/>
              <a:buChar char="Ø"/>
            </a:pPr>
            <a:r>
              <a:rPr lang="tr-TR" dirty="0" err="1">
                <a:solidFill>
                  <a:schemeClr val="tx1"/>
                </a:solidFill>
              </a:rPr>
              <a:t>GitHub</a:t>
            </a:r>
            <a:r>
              <a:rPr lang="tr-TR" dirty="0">
                <a:solidFill>
                  <a:schemeClr val="tx1"/>
                </a:solidFill>
              </a:rPr>
              <a:t> (</a:t>
            </a:r>
            <a:r>
              <a:rPr lang="tr-TR" dirty="0" err="1">
                <a:solidFill>
                  <a:schemeClr val="tx1"/>
                </a:solidFill>
              </a:rPr>
              <a:t>GitHub</a:t>
            </a:r>
            <a:r>
              <a:rPr lang="tr-TR" dirty="0">
                <a:solidFill>
                  <a:schemeClr val="tx1"/>
                </a:solidFill>
              </a:rPr>
              <a:t> nedir, görevi nedir, ne amaçla kullanılır?) (sayfa 11)</a:t>
            </a:r>
          </a:p>
          <a:p>
            <a:pPr>
              <a:buClr>
                <a:schemeClr val="tx1"/>
              </a:buClr>
              <a:buFont typeface="Wingdings" panose="05000000000000000000" pitchFamily="2" charset="2"/>
              <a:buChar char="Ø"/>
            </a:pPr>
            <a:r>
              <a:rPr lang="tr-TR" dirty="0" err="1">
                <a:solidFill>
                  <a:schemeClr val="tx1"/>
                </a:solidFill>
              </a:rPr>
              <a:t>GitHub</a:t>
            </a:r>
            <a:r>
              <a:rPr lang="tr-TR" dirty="0">
                <a:solidFill>
                  <a:schemeClr val="tx1"/>
                </a:solidFill>
              </a:rPr>
              <a:t> Kurulumu (sayfa 12)</a:t>
            </a:r>
          </a:p>
          <a:p>
            <a:pPr>
              <a:buClr>
                <a:schemeClr val="tx1"/>
              </a:buClr>
              <a:buFont typeface="Wingdings" panose="05000000000000000000" pitchFamily="2" charset="2"/>
              <a:buChar char="Ø"/>
            </a:pPr>
            <a:r>
              <a:rPr lang="tr-TR" dirty="0" err="1">
                <a:solidFill>
                  <a:schemeClr val="tx1"/>
                </a:solidFill>
              </a:rPr>
              <a:t>GitHub</a:t>
            </a:r>
            <a:r>
              <a:rPr lang="tr-TR" dirty="0">
                <a:solidFill>
                  <a:schemeClr val="tx1"/>
                </a:solidFill>
              </a:rPr>
              <a:t> Nasıl Kullanılır? (sayfa 12-14)</a:t>
            </a:r>
          </a:p>
          <a:p>
            <a:pPr>
              <a:buClr>
                <a:schemeClr val="tx1"/>
              </a:buClr>
              <a:buFont typeface="Wingdings" panose="05000000000000000000" pitchFamily="2" charset="2"/>
              <a:buChar char="Ø"/>
            </a:pPr>
            <a:r>
              <a:rPr lang="tr-TR" dirty="0">
                <a:solidFill>
                  <a:schemeClr val="tx1"/>
                </a:solidFill>
              </a:rPr>
              <a:t>Kaynakça (sayfa 15)</a:t>
            </a:r>
          </a:p>
          <a:p>
            <a:pPr marL="0" indent="0">
              <a:buNone/>
            </a:pPr>
            <a:endParaRPr lang="tr-TR" dirty="0"/>
          </a:p>
          <a:p>
            <a:endParaRPr lang="tr-TR" dirty="0"/>
          </a:p>
          <a:p>
            <a:endParaRPr lang="tr-TR" dirty="0"/>
          </a:p>
          <a:p>
            <a:endParaRPr lang="tr-TR" dirty="0"/>
          </a:p>
        </p:txBody>
      </p:sp>
    </p:spTree>
    <p:extLst>
      <p:ext uri="{BB962C8B-B14F-4D97-AF65-F5344CB8AC3E}">
        <p14:creationId xmlns:p14="http://schemas.microsoft.com/office/powerpoint/2010/main" val="9243828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a:extLst>
              <a:ext uri="{FF2B5EF4-FFF2-40B4-BE49-F238E27FC236}">
                <a16:creationId xmlns:a16="http://schemas.microsoft.com/office/drawing/2014/main" id="{9F5A53D1-6A19-4E6E-8C47-231F41E443FA}"/>
              </a:ext>
            </a:extLst>
          </p:cNvPr>
          <p:cNvSpPr>
            <a:spLocks noGrp="1"/>
          </p:cNvSpPr>
          <p:nvPr>
            <p:ph type="title"/>
          </p:nvPr>
        </p:nvSpPr>
        <p:spPr>
          <a:xfrm>
            <a:off x="731608" y="469978"/>
            <a:ext cx="5883055" cy="1109729"/>
          </a:xfrm>
        </p:spPr>
        <p:txBody>
          <a:bodyPr/>
          <a:lstStyle/>
          <a:p>
            <a:pPr algn="ctr"/>
            <a:r>
              <a:rPr lang="tr-TR" u="sng" dirty="0">
                <a:solidFill>
                  <a:schemeClr val="tx1"/>
                </a:solidFill>
                <a:effectLst>
                  <a:outerShdw blurRad="38100" dist="38100" dir="2700000" algn="tl">
                    <a:srgbClr val="000000">
                      <a:alpha val="43137"/>
                    </a:srgbClr>
                  </a:outerShdw>
                </a:effectLst>
              </a:rPr>
              <a:t>GİT</a:t>
            </a:r>
          </a:p>
        </p:txBody>
      </p:sp>
      <p:pic>
        <p:nvPicPr>
          <p:cNvPr id="4" name="İçerik Yer Tutucusu 3">
            <a:extLst>
              <a:ext uri="{FF2B5EF4-FFF2-40B4-BE49-F238E27FC236}">
                <a16:creationId xmlns:a16="http://schemas.microsoft.com/office/drawing/2014/main" id="{9342AAD3-E59D-408D-9228-1AF03AC7B729}"/>
              </a:ext>
            </a:extLst>
          </p:cNvPr>
          <p:cNvPicPr>
            <a:picLocks noGrp="1" noChangeAspect="1"/>
          </p:cNvPicPr>
          <p:nvPr>
            <p:ph idx="1"/>
          </p:nvPr>
        </p:nvPicPr>
        <p:blipFill>
          <a:blip r:embed="rId2"/>
          <a:stretch>
            <a:fillRect/>
          </a:stretch>
        </p:blipFill>
        <p:spPr>
          <a:xfrm>
            <a:off x="6954914" y="3101058"/>
            <a:ext cx="4825753" cy="2913487"/>
          </a:xfrm>
          <a:prstGeom prst="rect">
            <a:avLst/>
          </a:prstGeom>
        </p:spPr>
      </p:pic>
      <p:sp>
        <p:nvSpPr>
          <p:cNvPr id="5" name="Dikdörtgen 4">
            <a:extLst>
              <a:ext uri="{FF2B5EF4-FFF2-40B4-BE49-F238E27FC236}">
                <a16:creationId xmlns:a16="http://schemas.microsoft.com/office/drawing/2014/main" id="{19F6577A-C063-4BAB-9214-AD0AEE4288A2}"/>
              </a:ext>
            </a:extLst>
          </p:cNvPr>
          <p:cNvSpPr/>
          <p:nvPr/>
        </p:nvSpPr>
        <p:spPr>
          <a:xfrm>
            <a:off x="625136" y="1339620"/>
            <a:ext cx="6096000" cy="1938992"/>
          </a:xfrm>
          <a:prstGeom prst="rect">
            <a:avLst/>
          </a:prstGeom>
        </p:spPr>
        <p:txBody>
          <a:bodyPr>
            <a:spAutoFit/>
          </a:bodyPr>
          <a:lstStyle/>
          <a:p>
            <a:pPr algn="just"/>
            <a:r>
              <a:rPr lang="tr-TR" sz="2000" dirty="0"/>
              <a:t>Git, yazılım geliştirme süreçlerinde kullanılan, hız odaklı, dağıtık çalışan bir sürüm kontrol ve kaynak kod yönetim sistemidir. İlk sürümü Linux çekirdeği'nin geliştirilmesinde kullanılmak üzere 2005 yılında bizzat Linus Torvalds tarafından tasarlanıp geliştirilmiş, 2021 yılı itibarıyla %73 pazar payına ulaşmıştır.</a:t>
            </a:r>
          </a:p>
        </p:txBody>
      </p:sp>
      <p:sp>
        <p:nvSpPr>
          <p:cNvPr id="6" name="Dikdörtgen 5">
            <a:extLst>
              <a:ext uri="{FF2B5EF4-FFF2-40B4-BE49-F238E27FC236}">
                <a16:creationId xmlns:a16="http://schemas.microsoft.com/office/drawing/2014/main" id="{8422B016-9882-4CBA-84FC-B34314BEDE7F}"/>
              </a:ext>
            </a:extLst>
          </p:cNvPr>
          <p:cNvSpPr/>
          <p:nvPr/>
        </p:nvSpPr>
        <p:spPr>
          <a:xfrm>
            <a:off x="625136" y="3278612"/>
            <a:ext cx="6096000" cy="2554545"/>
          </a:xfrm>
          <a:prstGeom prst="rect">
            <a:avLst/>
          </a:prstGeom>
        </p:spPr>
        <p:txBody>
          <a:bodyPr wrap="square">
            <a:spAutoFit/>
          </a:bodyPr>
          <a:lstStyle/>
          <a:p>
            <a:pPr algn="just"/>
            <a:r>
              <a:rPr lang="tr-TR" sz="2000" dirty="0"/>
              <a:t>Git nedir ne işe yarar sorusunu biraz daha açmak gerekirse bu sistem farklı yazılımcıların ortak bir temel üzerinde kendi düzenlemelerini yapabilmelerini ve diğerlerinin de düzenleme geçmişine erişebilmesini sağlar. Bu sistem aslında bir çeşit versiyon tarihçesi ya da versiyon geçmişi listesidir. Özetle Git, ekip çalışmasına olanak veren ve karışıklık yaşanma ihtimalinin önüne geçen bir versiyon kontrol sistemidir.</a:t>
            </a:r>
          </a:p>
        </p:txBody>
      </p:sp>
      <p:pic>
        <p:nvPicPr>
          <p:cNvPr id="3" name="Resim 2">
            <a:extLst>
              <a:ext uri="{FF2B5EF4-FFF2-40B4-BE49-F238E27FC236}">
                <a16:creationId xmlns:a16="http://schemas.microsoft.com/office/drawing/2014/main" id="{C9297701-04D9-400D-952C-9920B7D58BFD}"/>
              </a:ext>
            </a:extLst>
          </p:cNvPr>
          <p:cNvPicPr>
            <a:picLocks noChangeAspect="1"/>
          </p:cNvPicPr>
          <p:nvPr/>
        </p:nvPicPr>
        <p:blipFill>
          <a:blip r:embed="rId3"/>
          <a:stretch>
            <a:fillRect/>
          </a:stretch>
        </p:blipFill>
        <p:spPr>
          <a:xfrm>
            <a:off x="7572652" y="1428750"/>
            <a:ext cx="3285848" cy="1380056"/>
          </a:xfrm>
          <a:prstGeom prst="rect">
            <a:avLst/>
          </a:prstGeom>
        </p:spPr>
      </p:pic>
    </p:spTree>
    <p:extLst>
      <p:ext uri="{BB962C8B-B14F-4D97-AF65-F5344CB8AC3E}">
        <p14:creationId xmlns:p14="http://schemas.microsoft.com/office/powerpoint/2010/main" val="24951818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a:extLst>
              <a:ext uri="{FF2B5EF4-FFF2-40B4-BE49-F238E27FC236}">
                <a16:creationId xmlns:a16="http://schemas.microsoft.com/office/drawing/2014/main" id="{04812FF9-81BA-432A-9BBC-524A36C23DF4}"/>
              </a:ext>
            </a:extLst>
          </p:cNvPr>
          <p:cNvSpPr>
            <a:spLocks noGrp="1"/>
          </p:cNvSpPr>
          <p:nvPr>
            <p:ph type="title"/>
          </p:nvPr>
        </p:nvSpPr>
        <p:spPr>
          <a:xfrm>
            <a:off x="838198" y="142736"/>
            <a:ext cx="10196746" cy="1188720"/>
          </a:xfrm>
        </p:spPr>
        <p:txBody>
          <a:bodyPr/>
          <a:lstStyle/>
          <a:p>
            <a:pPr algn="ctr"/>
            <a:r>
              <a:rPr lang="tr-TR" u="sng" dirty="0">
                <a:solidFill>
                  <a:schemeClr val="tx1"/>
                </a:solidFill>
                <a:effectLst>
                  <a:outerShdw blurRad="38100" dist="38100" dir="2700000" algn="tl">
                    <a:srgbClr val="000000">
                      <a:alpha val="43137"/>
                    </a:srgbClr>
                  </a:outerShdw>
                </a:effectLst>
              </a:rPr>
              <a:t>Git’in Temini ve Kurulumu</a:t>
            </a:r>
          </a:p>
        </p:txBody>
      </p:sp>
      <p:sp>
        <p:nvSpPr>
          <p:cNvPr id="3" name="İçerik Yer Tutucusu 2">
            <a:extLst>
              <a:ext uri="{FF2B5EF4-FFF2-40B4-BE49-F238E27FC236}">
                <a16:creationId xmlns:a16="http://schemas.microsoft.com/office/drawing/2014/main" id="{2A9546E2-EED4-458C-BF12-3C9A764A0920}"/>
              </a:ext>
            </a:extLst>
          </p:cNvPr>
          <p:cNvSpPr>
            <a:spLocks noGrp="1"/>
          </p:cNvSpPr>
          <p:nvPr>
            <p:ph idx="1"/>
          </p:nvPr>
        </p:nvSpPr>
        <p:spPr>
          <a:xfrm>
            <a:off x="2276381" y="1899821"/>
            <a:ext cx="9077419" cy="4593054"/>
          </a:xfrm>
        </p:spPr>
        <p:txBody>
          <a:bodyPr>
            <a:normAutofit/>
          </a:bodyPr>
          <a:lstStyle/>
          <a:p>
            <a:pPr marL="457200" indent="-457200" algn="just">
              <a:buFont typeface="+mj-lt"/>
              <a:buAutoNum type="arabicPeriod"/>
            </a:pPr>
            <a:endParaRPr lang="tr-TR" sz="2000" dirty="0">
              <a:solidFill>
                <a:schemeClr val="tx1"/>
              </a:solidFill>
            </a:endParaRPr>
          </a:p>
          <a:p>
            <a:pPr marL="2728600" lvl="8" indent="-457200" algn="just">
              <a:buClrTx/>
              <a:buFont typeface="+mj-lt"/>
              <a:buAutoNum type="arabicPeriod"/>
            </a:pPr>
            <a:r>
              <a:rPr lang="tr-TR" sz="2000" dirty="0">
                <a:solidFill>
                  <a:schemeClr val="tx1"/>
                </a:solidFill>
              </a:rPr>
              <a:t>Git’in kurulumu için git’in internet adresinden bilgisayarımıza uygun işletim sistemini seçiyoruz.</a:t>
            </a:r>
          </a:p>
          <a:p>
            <a:pPr marL="2728600" lvl="8" indent="-457200" algn="just">
              <a:buFont typeface="+mj-lt"/>
              <a:buAutoNum type="arabicPeriod"/>
            </a:pPr>
            <a:endParaRPr lang="tr-TR" sz="2000" dirty="0">
              <a:solidFill>
                <a:schemeClr val="tx1"/>
              </a:solidFill>
            </a:endParaRPr>
          </a:p>
          <a:p>
            <a:pPr marL="2728600" lvl="8" indent="-457200" algn="just">
              <a:buFont typeface="+mj-lt"/>
              <a:buAutoNum type="arabicPeriod"/>
            </a:pPr>
            <a:endParaRPr lang="tr-TR" sz="2000" dirty="0">
              <a:solidFill>
                <a:schemeClr val="tx1"/>
              </a:solidFill>
            </a:endParaRPr>
          </a:p>
          <a:p>
            <a:pPr marL="2728600" lvl="8" indent="-457200" algn="just">
              <a:buFont typeface="+mj-lt"/>
              <a:buAutoNum type="arabicPeriod"/>
            </a:pPr>
            <a:endParaRPr lang="tr-TR" sz="2000" dirty="0">
              <a:solidFill>
                <a:schemeClr val="tx1"/>
              </a:solidFill>
            </a:endParaRPr>
          </a:p>
          <a:p>
            <a:pPr marL="2728600" lvl="8" indent="-457200" algn="just">
              <a:buClrTx/>
              <a:buFont typeface="+mj-lt"/>
              <a:buAutoNum type="arabicPeriod"/>
            </a:pPr>
            <a:r>
              <a:rPr lang="tr-TR" sz="2000" dirty="0">
                <a:solidFill>
                  <a:schemeClr val="tx1"/>
                </a:solidFill>
              </a:rPr>
              <a:t>"64- bit olan </a:t>
            </a:r>
            <a:r>
              <a:rPr lang="tr-TR" sz="2000" dirty="0" err="1">
                <a:solidFill>
                  <a:schemeClr val="tx1"/>
                </a:solidFill>
              </a:rPr>
              <a:t>Setup</a:t>
            </a:r>
            <a:r>
              <a:rPr lang="tr-TR" sz="2000" dirty="0">
                <a:solidFill>
                  <a:schemeClr val="tx1"/>
                </a:solidFill>
              </a:rPr>
              <a:t>"’ı indiriyoruz.</a:t>
            </a:r>
          </a:p>
          <a:p>
            <a:pPr marL="2728600" lvl="8" indent="-457200" algn="just">
              <a:buFont typeface="+mj-lt"/>
              <a:buAutoNum type="arabicPeriod"/>
            </a:pPr>
            <a:endParaRPr lang="tr-TR" sz="2000" dirty="0">
              <a:solidFill>
                <a:schemeClr val="tx1"/>
              </a:solidFill>
            </a:endParaRPr>
          </a:p>
          <a:p>
            <a:pPr marL="2728600" lvl="8" indent="-457200" algn="just">
              <a:buFont typeface="+mj-lt"/>
              <a:buAutoNum type="arabicPeriod"/>
            </a:pPr>
            <a:endParaRPr lang="tr-TR" sz="2000" dirty="0">
              <a:solidFill>
                <a:schemeClr val="tx1"/>
              </a:solidFill>
            </a:endParaRPr>
          </a:p>
          <a:p>
            <a:pPr marL="2728600" lvl="8" indent="-457200" algn="just">
              <a:buFont typeface="+mj-lt"/>
              <a:buAutoNum type="arabicPeriod"/>
            </a:pPr>
            <a:endParaRPr lang="tr-TR" sz="2000" dirty="0">
              <a:solidFill>
                <a:schemeClr val="tx1"/>
              </a:solidFill>
            </a:endParaRPr>
          </a:p>
          <a:p>
            <a:pPr marL="2728600" lvl="8" indent="-457200" algn="just">
              <a:buClrTx/>
              <a:buFont typeface="+mj-lt"/>
              <a:buAutoNum type="arabicPeriod"/>
            </a:pPr>
            <a:r>
              <a:rPr lang="tr-TR" sz="2000" dirty="0">
                <a:solidFill>
                  <a:schemeClr val="tx1"/>
                </a:solidFill>
              </a:rPr>
              <a:t>İndirilenler klasöründen "bit.exe" olan uygulamaya çift tıklayıp çalıştırıyoruz. Ekrana gelen uyarı mesajına "evet" dedikten sonra kuruluma geçiyoruz.</a:t>
            </a:r>
          </a:p>
        </p:txBody>
      </p:sp>
      <p:pic>
        <p:nvPicPr>
          <p:cNvPr id="4" name="Resim 3">
            <a:extLst>
              <a:ext uri="{FF2B5EF4-FFF2-40B4-BE49-F238E27FC236}">
                <a16:creationId xmlns:a16="http://schemas.microsoft.com/office/drawing/2014/main" id="{ABAC500E-5B91-4B74-9BD4-4913C2A031E0}"/>
              </a:ext>
            </a:extLst>
          </p:cNvPr>
          <p:cNvPicPr>
            <a:picLocks noChangeAspect="1"/>
          </p:cNvPicPr>
          <p:nvPr/>
        </p:nvPicPr>
        <p:blipFill rotWithShape="1">
          <a:blip r:embed="rId2"/>
          <a:srcRect b="51205"/>
          <a:stretch/>
        </p:blipFill>
        <p:spPr>
          <a:xfrm>
            <a:off x="838199" y="2041598"/>
            <a:ext cx="3667115" cy="1525573"/>
          </a:xfrm>
          <a:prstGeom prst="rect">
            <a:avLst/>
          </a:prstGeom>
        </p:spPr>
      </p:pic>
      <p:pic>
        <p:nvPicPr>
          <p:cNvPr id="5" name="Resim 4">
            <a:extLst>
              <a:ext uri="{FF2B5EF4-FFF2-40B4-BE49-F238E27FC236}">
                <a16:creationId xmlns:a16="http://schemas.microsoft.com/office/drawing/2014/main" id="{43C37136-0C84-421C-A124-4AB822CE1326}"/>
              </a:ext>
            </a:extLst>
          </p:cNvPr>
          <p:cNvPicPr>
            <a:picLocks noChangeAspect="1"/>
          </p:cNvPicPr>
          <p:nvPr/>
        </p:nvPicPr>
        <p:blipFill>
          <a:blip r:embed="rId3"/>
          <a:stretch>
            <a:fillRect/>
          </a:stretch>
        </p:blipFill>
        <p:spPr>
          <a:xfrm>
            <a:off x="838199" y="3723988"/>
            <a:ext cx="3667115" cy="1330013"/>
          </a:xfrm>
          <a:prstGeom prst="rect">
            <a:avLst/>
          </a:prstGeom>
        </p:spPr>
      </p:pic>
      <p:pic>
        <p:nvPicPr>
          <p:cNvPr id="6" name="Resim 5">
            <a:extLst>
              <a:ext uri="{FF2B5EF4-FFF2-40B4-BE49-F238E27FC236}">
                <a16:creationId xmlns:a16="http://schemas.microsoft.com/office/drawing/2014/main" id="{CBB8A600-D42A-4C6B-841C-6241F79822DB}"/>
              </a:ext>
            </a:extLst>
          </p:cNvPr>
          <p:cNvPicPr>
            <a:picLocks noChangeAspect="1"/>
          </p:cNvPicPr>
          <p:nvPr/>
        </p:nvPicPr>
        <p:blipFill>
          <a:blip r:embed="rId4"/>
          <a:stretch>
            <a:fillRect/>
          </a:stretch>
        </p:blipFill>
        <p:spPr>
          <a:xfrm>
            <a:off x="838198" y="5054001"/>
            <a:ext cx="3567092" cy="1560113"/>
          </a:xfrm>
          <a:prstGeom prst="rect">
            <a:avLst/>
          </a:prstGeom>
        </p:spPr>
      </p:pic>
      <p:sp>
        <p:nvSpPr>
          <p:cNvPr id="7" name="Dikdörtgen 6">
            <a:extLst>
              <a:ext uri="{FF2B5EF4-FFF2-40B4-BE49-F238E27FC236}">
                <a16:creationId xmlns:a16="http://schemas.microsoft.com/office/drawing/2014/main" id="{383D8D83-AA04-48DF-ACFE-38655295EBD1}"/>
              </a:ext>
            </a:extLst>
          </p:cNvPr>
          <p:cNvSpPr/>
          <p:nvPr/>
        </p:nvSpPr>
        <p:spPr>
          <a:xfrm>
            <a:off x="838198" y="4851559"/>
            <a:ext cx="1438183" cy="162406"/>
          </a:xfrm>
          <a:prstGeom prst="rect">
            <a:avLst/>
          </a:prstGeom>
          <a:noFill/>
          <a:ln w="571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tr-TR"/>
          </a:p>
        </p:txBody>
      </p:sp>
      <p:sp>
        <p:nvSpPr>
          <p:cNvPr id="8" name="Dikdörtgen 7">
            <a:extLst>
              <a:ext uri="{FF2B5EF4-FFF2-40B4-BE49-F238E27FC236}">
                <a16:creationId xmlns:a16="http://schemas.microsoft.com/office/drawing/2014/main" id="{3EA5970D-61F7-4759-A495-70957F1B8E3C}"/>
              </a:ext>
            </a:extLst>
          </p:cNvPr>
          <p:cNvSpPr/>
          <p:nvPr/>
        </p:nvSpPr>
        <p:spPr>
          <a:xfrm>
            <a:off x="884552" y="1118268"/>
            <a:ext cx="10469248" cy="707886"/>
          </a:xfrm>
          <a:prstGeom prst="rect">
            <a:avLst/>
          </a:prstGeom>
        </p:spPr>
        <p:txBody>
          <a:bodyPr wrap="square">
            <a:spAutoFit/>
          </a:bodyPr>
          <a:lstStyle/>
          <a:p>
            <a:pPr algn="just"/>
            <a:r>
              <a:rPr lang="tr-TR" dirty="0"/>
              <a:t>	</a:t>
            </a:r>
            <a:r>
              <a:rPr lang="tr-TR" sz="2000" dirty="0"/>
              <a:t>Git’i kullanmak için </a:t>
            </a:r>
            <a:r>
              <a:rPr lang="tr-TR" sz="2000" dirty="0">
                <a:hlinkClick r:id="rId5">
                  <a:extLst>
                    <a:ext uri="{A12FA001-AC4F-418D-AE19-62706E023703}">
                      <ahyp:hlinkClr xmlns:ahyp="http://schemas.microsoft.com/office/drawing/2018/hyperlinkcolor" val="tx"/>
                    </a:ext>
                  </a:extLst>
                </a:hlinkClick>
              </a:rPr>
              <a:t>git-scm.com/downloads</a:t>
            </a:r>
            <a:r>
              <a:rPr lang="tr-TR" sz="2000" dirty="0"/>
              <a:t> adresinden ücretsiz olarak işletim sisteminize uygun olan dosyayı indirerek kurabilirsiniz.</a:t>
            </a:r>
            <a:endParaRPr lang="tr-TR" dirty="0"/>
          </a:p>
        </p:txBody>
      </p:sp>
    </p:spTree>
    <p:extLst>
      <p:ext uri="{BB962C8B-B14F-4D97-AF65-F5344CB8AC3E}">
        <p14:creationId xmlns:p14="http://schemas.microsoft.com/office/powerpoint/2010/main" val="13986343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İçerik Yer Tutucusu 12">
            <a:extLst>
              <a:ext uri="{FF2B5EF4-FFF2-40B4-BE49-F238E27FC236}">
                <a16:creationId xmlns:a16="http://schemas.microsoft.com/office/drawing/2014/main" id="{BF714ED6-C111-471E-AA6D-7D18EA6E56D5}"/>
              </a:ext>
            </a:extLst>
          </p:cNvPr>
          <p:cNvPicPr>
            <a:picLocks noGrp="1" noChangeAspect="1"/>
          </p:cNvPicPr>
          <p:nvPr>
            <p:ph sz="half" idx="1"/>
          </p:nvPr>
        </p:nvPicPr>
        <p:blipFill>
          <a:blip r:embed="rId2"/>
          <a:stretch>
            <a:fillRect/>
          </a:stretch>
        </p:blipFill>
        <p:spPr>
          <a:xfrm>
            <a:off x="309602" y="496318"/>
            <a:ext cx="2720342" cy="2128009"/>
          </a:xfrm>
          <a:prstGeom prst="rect">
            <a:avLst/>
          </a:prstGeom>
        </p:spPr>
      </p:pic>
      <p:sp>
        <p:nvSpPr>
          <p:cNvPr id="46" name="İçerik Yer Tutucusu 45">
            <a:extLst>
              <a:ext uri="{FF2B5EF4-FFF2-40B4-BE49-F238E27FC236}">
                <a16:creationId xmlns:a16="http://schemas.microsoft.com/office/drawing/2014/main" id="{B3343FDD-9C54-4DBD-AA45-CC0692F4EE88}"/>
              </a:ext>
            </a:extLst>
          </p:cNvPr>
          <p:cNvSpPr>
            <a:spLocks noGrp="1"/>
          </p:cNvSpPr>
          <p:nvPr>
            <p:ph sz="half" idx="2"/>
          </p:nvPr>
        </p:nvSpPr>
        <p:spPr>
          <a:xfrm>
            <a:off x="736847" y="5708341"/>
            <a:ext cx="11132598" cy="781235"/>
          </a:xfrm>
        </p:spPr>
        <p:txBody>
          <a:bodyPr>
            <a:normAutofit/>
          </a:bodyPr>
          <a:lstStyle/>
          <a:p>
            <a:pPr>
              <a:buClrTx/>
            </a:pPr>
            <a:r>
              <a:rPr lang="tr-TR" sz="2000" dirty="0">
                <a:solidFill>
                  <a:schemeClr val="tx1"/>
                </a:solidFill>
              </a:rPr>
              <a:t>Herhangi bir değişiklik yapmadan "</a:t>
            </a:r>
            <a:r>
              <a:rPr lang="tr-TR" sz="2000" dirty="0" err="1">
                <a:solidFill>
                  <a:schemeClr val="tx1"/>
                </a:solidFill>
              </a:rPr>
              <a:t>next"e</a:t>
            </a:r>
            <a:r>
              <a:rPr lang="tr-TR" sz="2000" dirty="0">
                <a:solidFill>
                  <a:schemeClr val="tx1"/>
                </a:solidFill>
              </a:rPr>
              <a:t> tıklıyoruz.</a:t>
            </a:r>
          </a:p>
        </p:txBody>
      </p:sp>
      <p:pic>
        <p:nvPicPr>
          <p:cNvPr id="16" name="Resim 15">
            <a:extLst>
              <a:ext uri="{FF2B5EF4-FFF2-40B4-BE49-F238E27FC236}">
                <a16:creationId xmlns:a16="http://schemas.microsoft.com/office/drawing/2014/main" id="{2C3A1EAD-1D98-403C-9E59-039C43C08ECE}"/>
              </a:ext>
            </a:extLst>
          </p:cNvPr>
          <p:cNvPicPr>
            <a:picLocks noChangeAspect="1"/>
          </p:cNvPicPr>
          <p:nvPr/>
        </p:nvPicPr>
        <p:blipFill rotWithShape="1">
          <a:blip r:embed="rId3"/>
          <a:srcRect l="372" r="831"/>
          <a:stretch/>
        </p:blipFill>
        <p:spPr>
          <a:xfrm>
            <a:off x="3231465" y="496317"/>
            <a:ext cx="2735853" cy="2128011"/>
          </a:xfrm>
          <a:prstGeom prst="rect">
            <a:avLst/>
          </a:prstGeom>
        </p:spPr>
      </p:pic>
      <p:pic>
        <p:nvPicPr>
          <p:cNvPr id="20" name="Resim 19">
            <a:extLst>
              <a:ext uri="{FF2B5EF4-FFF2-40B4-BE49-F238E27FC236}">
                <a16:creationId xmlns:a16="http://schemas.microsoft.com/office/drawing/2014/main" id="{13AF789D-DC26-4A57-B1AE-181A73F9C2E8}"/>
              </a:ext>
            </a:extLst>
          </p:cNvPr>
          <p:cNvPicPr>
            <a:picLocks noChangeAspect="1"/>
          </p:cNvPicPr>
          <p:nvPr/>
        </p:nvPicPr>
        <p:blipFill rotWithShape="1">
          <a:blip r:embed="rId4"/>
          <a:srcRect b="1373"/>
          <a:stretch/>
        </p:blipFill>
        <p:spPr>
          <a:xfrm>
            <a:off x="6263842" y="496316"/>
            <a:ext cx="2769263" cy="2128011"/>
          </a:xfrm>
          <a:prstGeom prst="rect">
            <a:avLst/>
          </a:prstGeom>
        </p:spPr>
      </p:pic>
      <p:pic>
        <p:nvPicPr>
          <p:cNvPr id="29" name="Resim 28">
            <a:extLst>
              <a:ext uri="{FF2B5EF4-FFF2-40B4-BE49-F238E27FC236}">
                <a16:creationId xmlns:a16="http://schemas.microsoft.com/office/drawing/2014/main" id="{E5909251-80C3-4DF1-BEF9-4529EE97A378}"/>
              </a:ext>
            </a:extLst>
          </p:cNvPr>
          <p:cNvPicPr>
            <a:picLocks noChangeAspect="1"/>
          </p:cNvPicPr>
          <p:nvPr/>
        </p:nvPicPr>
        <p:blipFill>
          <a:blip r:embed="rId5"/>
          <a:stretch>
            <a:fillRect/>
          </a:stretch>
        </p:blipFill>
        <p:spPr>
          <a:xfrm>
            <a:off x="9234626" y="496317"/>
            <a:ext cx="2734437" cy="2128010"/>
          </a:xfrm>
          <a:prstGeom prst="rect">
            <a:avLst/>
          </a:prstGeom>
        </p:spPr>
      </p:pic>
      <p:pic>
        <p:nvPicPr>
          <p:cNvPr id="30" name="Resim 29">
            <a:extLst>
              <a:ext uri="{FF2B5EF4-FFF2-40B4-BE49-F238E27FC236}">
                <a16:creationId xmlns:a16="http://schemas.microsoft.com/office/drawing/2014/main" id="{D1555767-6393-4334-9C94-626EED19D45F}"/>
              </a:ext>
            </a:extLst>
          </p:cNvPr>
          <p:cNvPicPr>
            <a:picLocks noChangeAspect="1"/>
          </p:cNvPicPr>
          <p:nvPr/>
        </p:nvPicPr>
        <p:blipFill rotWithShape="1">
          <a:blip r:embed="rId6"/>
          <a:srcRect b="917"/>
          <a:stretch/>
        </p:blipFill>
        <p:spPr>
          <a:xfrm>
            <a:off x="9234625" y="3061342"/>
            <a:ext cx="2734438" cy="2128011"/>
          </a:xfrm>
          <a:prstGeom prst="rect">
            <a:avLst/>
          </a:prstGeom>
        </p:spPr>
      </p:pic>
      <p:pic>
        <p:nvPicPr>
          <p:cNvPr id="32" name="Resim 31">
            <a:extLst>
              <a:ext uri="{FF2B5EF4-FFF2-40B4-BE49-F238E27FC236}">
                <a16:creationId xmlns:a16="http://schemas.microsoft.com/office/drawing/2014/main" id="{A4819CFD-E362-4950-BB4E-D4B192B569DE}"/>
              </a:ext>
            </a:extLst>
          </p:cNvPr>
          <p:cNvPicPr>
            <a:picLocks noChangeAspect="1"/>
          </p:cNvPicPr>
          <p:nvPr/>
        </p:nvPicPr>
        <p:blipFill>
          <a:blip r:embed="rId7"/>
          <a:stretch>
            <a:fillRect/>
          </a:stretch>
        </p:blipFill>
        <p:spPr>
          <a:xfrm>
            <a:off x="6318246" y="3061342"/>
            <a:ext cx="2714859" cy="2128011"/>
          </a:xfrm>
          <a:prstGeom prst="rect">
            <a:avLst/>
          </a:prstGeom>
        </p:spPr>
      </p:pic>
      <p:pic>
        <p:nvPicPr>
          <p:cNvPr id="41" name="İçerik Yer Tutucusu 3">
            <a:extLst>
              <a:ext uri="{FF2B5EF4-FFF2-40B4-BE49-F238E27FC236}">
                <a16:creationId xmlns:a16="http://schemas.microsoft.com/office/drawing/2014/main" id="{9C5DA7F5-0DC0-459C-A44A-D75FC8F9EEE0}"/>
              </a:ext>
            </a:extLst>
          </p:cNvPr>
          <p:cNvPicPr>
            <a:picLocks noChangeAspect="1"/>
          </p:cNvPicPr>
          <p:nvPr/>
        </p:nvPicPr>
        <p:blipFill rotWithShape="1">
          <a:blip r:embed="rId8"/>
          <a:srcRect l="1319" r="1196" b="1474"/>
          <a:stretch/>
        </p:blipFill>
        <p:spPr>
          <a:xfrm>
            <a:off x="3231465" y="2993901"/>
            <a:ext cx="2772289" cy="2195452"/>
          </a:xfrm>
          <a:prstGeom prst="rect">
            <a:avLst/>
          </a:prstGeom>
        </p:spPr>
      </p:pic>
      <p:pic>
        <p:nvPicPr>
          <p:cNvPr id="42" name="Resim 41">
            <a:extLst>
              <a:ext uri="{FF2B5EF4-FFF2-40B4-BE49-F238E27FC236}">
                <a16:creationId xmlns:a16="http://schemas.microsoft.com/office/drawing/2014/main" id="{CF6D2DAD-9ED5-43F5-AC7C-DB37548427FE}"/>
              </a:ext>
            </a:extLst>
          </p:cNvPr>
          <p:cNvPicPr>
            <a:picLocks noChangeAspect="1"/>
          </p:cNvPicPr>
          <p:nvPr/>
        </p:nvPicPr>
        <p:blipFill>
          <a:blip r:embed="rId9"/>
          <a:stretch>
            <a:fillRect/>
          </a:stretch>
        </p:blipFill>
        <p:spPr>
          <a:xfrm>
            <a:off x="309391" y="3005894"/>
            <a:ext cx="2772289" cy="2151206"/>
          </a:xfrm>
          <a:prstGeom prst="rect">
            <a:avLst/>
          </a:prstGeom>
        </p:spPr>
      </p:pic>
      <p:cxnSp>
        <p:nvCxnSpPr>
          <p:cNvPr id="3" name="Düz Ok Bağlayıcısı 2">
            <a:extLst>
              <a:ext uri="{FF2B5EF4-FFF2-40B4-BE49-F238E27FC236}">
                <a16:creationId xmlns:a16="http://schemas.microsoft.com/office/drawing/2014/main" id="{ECBD47AA-411C-420B-95C2-632985D1C22E}"/>
              </a:ext>
            </a:extLst>
          </p:cNvPr>
          <p:cNvCxnSpPr/>
          <p:nvPr/>
        </p:nvCxnSpPr>
        <p:spPr>
          <a:xfrm>
            <a:off x="2886027" y="1784412"/>
            <a:ext cx="416858"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Düz Ok Bağlayıcısı 13">
            <a:extLst>
              <a:ext uri="{FF2B5EF4-FFF2-40B4-BE49-F238E27FC236}">
                <a16:creationId xmlns:a16="http://schemas.microsoft.com/office/drawing/2014/main" id="{907B11ED-DB9B-4F05-9FCC-09030A0C2090}"/>
              </a:ext>
            </a:extLst>
          </p:cNvPr>
          <p:cNvCxnSpPr/>
          <p:nvPr/>
        </p:nvCxnSpPr>
        <p:spPr>
          <a:xfrm>
            <a:off x="5901388" y="1784412"/>
            <a:ext cx="416858"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Düz Ok Bağlayıcısı 14">
            <a:extLst>
              <a:ext uri="{FF2B5EF4-FFF2-40B4-BE49-F238E27FC236}">
                <a16:creationId xmlns:a16="http://schemas.microsoft.com/office/drawing/2014/main" id="{51F0B9BC-15FB-43D2-9DE3-35A93B5CFD13}"/>
              </a:ext>
            </a:extLst>
          </p:cNvPr>
          <p:cNvCxnSpPr>
            <a:cxnSpLocks/>
          </p:cNvCxnSpPr>
          <p:nvPr/>
        </p:nvCxnSpPr>
        <p:spPr>
          <a:xfrm>
            <a:off x="10433133" y="2607102"/>
            <a:ext cx="0" cy="45424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Düz Ok Bağlayıcısı 16">
            <a:extLst>
              <a:ext uri="{FF2B5EF4-FFF2-40B4-BE49-F238E27FC236}">
                <a16:creationId xmlns:a16="http://schemas.microsoft.com/office/drawing/2014/main" id="{CC047A64-00B5-4A56-978A-D3FA45F82A53}"/>
              </a:ext>
            </a:extLst>
          </p:cNvPr>
          <p:cNvCxnSpPr/>
          <p:nvPr/>
        </p:nvCxnSpPr>
        <p:spPr>
          <a:xfrm>
            <a:off x="9025304" y="1778494"/>
            <a:ext cx="416858"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Düz Ok Bağlayıcısı 17">
            <a:extLst>
              <a:ext uri="{FF2B5EF4-FFF2-40B4-BE49-F238E27FC236}">
                <a16:creationId xmlns:a16="http://schemas.microsoft.com/office/drawing/2014/main" id="{31FD153A-E29D-49F9-AC1D-B4522C2B9C47}"/>
              </a:ext>
            </a:extLst>
          </p:cNvPr>
          <p:cNvCxnSpPr>
            <a:cxnSpLocks/>
          </p:cNvCxnSpPr>
          <p:nvPr/>
        </p:nvCxnSpPr>
        <p:spPr>
          <a:xfrm flipH="1">
            <a:off x="8821117" y="4237609"/>
            <a:ext cx="513035"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Düz Ok Bağlayıcısı 18">
            <a:extLst>
              <a:ext uri="{FF2B5EF4-FFF2-40B4-BE49-F238E27FC236}">
                <a16:creationId xmlns:a16="http://schemas.microsoft.com/office/drawing/2014/main" id="{48C3A2D3-F7F2-4638-B851-D64BCA3D1728}"/>
              </a:ext>
            </a:extLst>
          </p:cNvPr>
          <p:cNvCxnSpPr>
            <a:cxnSpLocks/>
          </p:cNvCxnSpPr>
          <p:nvPr/>
        </p:nvCxnSpPr>
        <p:spPr>
          <a:xfrm flipH="1">
            <a:off x="5967318" y="4237609"/>
            <a:ext cx="462933"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Düz Ok Bağlayıcısı 20">
            <a:extLst>
              <a:ext uri="{FF2B5EF4-FFF2-40B4-BE49-F238E27FC236}">
                <a16:creationId xmlns:a16="http://schemas.microsoft.com/office/drawing/2014/main" id="{857299C1-180C-403C-8467-DF43D4770681}"/>
              </a:ext>
            </a:extLst>
          </p:cNvPr>
          <p:cNvCxnSpPr>
            <a:cxnSpLocks/>
          </p:cNvCxnSpPr>
          <p:nvPr/>
        </p:nvCxnSpPr>
        <p:spPr>
          <a:xfrm flipH="1">
            <a:off x="2869983" y="4168067"/>
            <a:ext cx="457200"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7E4B843E-612A-4733-AA6B-BE8A5256C4E6}"/>
              </a:ext>
            </a:extLst>
          </p:cNvPr>
          <p:cNvSpPr/>
          <p:nvPr/>
        </p:nvSpPr>
        <p:spPr>
          <a:xfrm>
            <a:off x="2039269" y="2366070"/>
            <a:ext cx="544040" cy="346214"/>
          </a:xfrm>
          <a:prstGeom prst="ellipse">
            <a:avLst/>
          </a:prstGeom>
          <a:noFill/>
          <a:ln w="571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tr-TR" dirty="0"/>
          </a:p>
        </p:txBody>
      </p:sp>
      <p:sp>
        <p:nvSpPr>
          <p:cNvPr id="25" name="Oval 24">
            <a:extLst>
              <a:ext uri="{FF2B5EF4-FFF2-40B4-BE49-F238E27FC236}">
                <a16:creationId xmlns:a16="http://schemas.microsoft.com/office/drawing/2014/main" id="{1F304586-CD0C-4D72-A794-74CE576D8B89}"/>
              </a:ext>
            </a:extLst>
          </p:cNvPr>
          <p:cNvSpPr/>
          <p:nvPr/>
        </p:nvSpPr>
        <p:spPr>
          <a:xfrm>
            <a:off x="8040648" y="4897890"/>
            <a:ext cx="544040" cy="346214"/>
          </a:xfrm>
          <a:prstGeom prst="ellipse">
            <a:avLst/>
          </a:prstGeom>
          <a:noFill/>
          <a:ln w="571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tr-TR" dirty="0"/>
          </a:p>
        </p:txBody>
      </p:sp>
      <p:sp>
        <p:nvSpPr>
          <p:cNvPr id="26" name="Oval 25">
            <a:extLst>
              <a:ext uri="{FF2B5EF4-FFF2-40B4-BE49-F238E27FC236}">
                <a16:creationId xmlns:a16="http://schemas.microsoft.com/office/drawing/2014/main" id="{FA128A2A-77A6-41B9-A1AC-9094B5AC6C10}"/>
              </a:ext>
            </a:extLst>
          </p:cNvPr>
          <p:cNvSpPr/>
          <p:nvPr/>
        </p:nvSpPr>
        <p:spPr>
          <a:xfrm>
            <a:off x="10955114" y="4913400"/>
            <a:ext cx="544040" cy="346214"/>
          </a:xfrm>
          <a:prstGeom prst="ellipse">
            <a:avLst/>
          </a:prstGeom>
          <a:noFill/>
          <a:ln w="571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tr-TR" dirty="0"/>
          </a:p>
        </p:txBody>
      </p:sp>
      <p:sp>
        <p:nvSpPr>
          <p:cNvPr id="27" name="Oval 26">
            <a:extLst>
              <a:ext uri="{FF2B5EF4-FFF2-40B4-BE49-F238E27FC236}">
                <a16:creationId xmlns:a16="http://schemas.microsoft.com/office/drawing/2014/main" id="{0E2F286B-A622-4B6B-BF28-6EC80DF3F803}"/>
              </a:ext>
            </a:extLst>
          </p:cNvPr>
          <p:cNvSpPr/>
          <p:nvPr/>
        </p:nvSpPr>
        <p:spPr>
          <a:xfrm>
            <a:off x="10924010" y="2345363"/>
            <a:ext cx="544040" cy="346214"/>
          </a:xfrm>
          <a:prstGeom prst="ellipse">
            <a:avLst/>
          </a:prstGeom>
          <a:noFill/>
          <a:ln w="571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tr-TR" dirty="0"/>
          </a:p>
        </p:txBody>
      </p:sp>
      <p:sp>
        <p:nvSpPr>
          <p:cNvPr id="28" name="Oval 27">
            <a:extLst>
              <a:ext uri="{FF2B5EF4-FFF2-40B4-BE49-F238E27FC236}">
                <a16:creationId xmlns:a16="http://schemas.microsoft.com/office/drawing/2014/main" id="{1C5F5FEB-7683-4E27-873F-F35265EF921B}"/>
              </a:ext>
            </a:extLst>
          </p:cNvPr>
          <p:cNvSpPr/>
          <p:nvPr/>
        </p:nvSpPr>
        <p:spPr>
          <a:xfrm>
            <a:off x="8010124" y="2158466"/>
            <a:ext cx="541421" cy="335022"/>
          </a:xfrm>
          <a:prstGeom prst="ellipse">
            <a:avLst/>
          </a:prstGeom>
          <a:noFill/>
          <a:ln w="571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tr-TR" dirty="0"/>
          </a:p>
        </p:txBody>
      </p:sp>
      <p:sp>
        <p:nvSpPr>
          <p:cNvPr id="31" name="Oval 30">
            <a:extLst>
              <a:ext uri="{FF2B5EF4-FFF2-40B4-BE49-F238E27FC236}">
                <a16:creationId xmlns:a16="http://schemas.microsoft.com/office/drawing/2014/main" id="{E16F8C36-7036-4A64-B0DD-F0E4CCE562FC}"/>
              </a:ext>
            </a:extLst>
          </p:cNvPr>
          <p:cNvSpPr/>
          <p:nvPr/>
        </p:nvSpPr>
        <p:spPr>
          <a:xfrm>
            <a:off x="4932401" y="2345363"/>
            <a:ext cx="544040" cy="346214"/>
          </a:xfrm>
          <a:prstGeom prst="ellipse">
            <a:avLst/>
          </a:prstGeom>
          <a:noFill/>
          <a:ln w="571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tr-TR" dirty="0"/>
          </a:p>
        </p:txBody>
      </p:sp>
      <p:sp>
        <p:nvSpPr>
          <p:cNvPr id="33" name="Oval 32">
            <a:extLst>
              <a:ext uri="{FF2B5EF4-FFF2-40B4-BE49-F238E27FC236}">
                <a16:creationId xmlns:a16="http://schemas.microsoft.com/office/drawing/2014/main" id="{C110F4AA-0B6D-42A7-BE30-75825085C3D9}"/>
              </a:ext>
            </a:extLst>
          </p:cNvPr>
          <p:cNvSpPr/>
          <p:nvPr/>
        </p:nvSpPr>
        <p:spPr>
          <a:xfrm>
            <a:off x="2064977" y="4913399"/>
            <a:ext cx="544040" cy="346214"/>
          </a:xfrm>
          <a:prstGeom prst="ellipse">
            <a:avLst/>
          </a:prstGeom>
          <a:noFill/>
          <a:ln w="571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tr-TR" dirty="0"/>
          </a:p>
        </p:txBody>
      </p:sp>
      <p:sp>
        <p:nvSpPr>
          <p:cNvPr id="34" name="Oval 33">
            <a:extLst>
              <a:ext uri="{FF2B5EF4-FFF2-40B4-BE49-F238E27FC236}">
                <a16:creationId xmlns:a16="http://schemas.microsoft.com/office/drawing/2014/main" id="{323CCE1F-9D53-4ACD-8650-57A4311BDC78}"/>
              </a:ext>
            </a:extLst>
          </p:cNvPr>
          <p:cNvSpPr/>
          <p:nvPr/>
        </p:nvSpPr>
        <p:spPr>
          <a:xfrm>
            <a:off x="5002981" y="4897890"/>
            <a:ext cx="544040" cy="346214"/>
          </a:xfrm>
          <a:prstGeom prst="ellipse">
            <a:avLst/>
          </a:prstGeom>
          <a:noFill/>
          <a:ln w="571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tr-TR" dirty="0"/>
          </a:p>
        </p:txBody>
      </p:sp>
    </p:spTree>
    <p:extLst>
      <p:ext uri="{BB962C8B-B14F-4D97-AF65-F5344CB8AC3E}">
        <p14:creationId xmlns:p14="http://schemas.microsoft.com/office/powerpoint/2010/main" val="11547549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Resim 5">
            <a:extLst>
              <a:ext uri="{FF2B5EF4-FFF2-40B4-BE49-F238E27FC236}">
                <a16:creationId xmlns:a16="http://schemas.microsoft.com/office/drawing/2014/main" id="{EFC972F8-985F-4F67-B8E4-6D781627E7CE}"/>
              </a:ext>
            </a:extLst>
          </p:cNvPr>
          <p:cNvPicPr>
            <a:picLocks noChangeAspect="1"/>
          </p:cNvPicPr>
          <p:nvPr/>
        </p:nvPicPr>
        <p:blipFill>
          <a:blip r:embed="rId2"/>
          <a:stretch>
            <a:fillRect/>
          </a:stretch>
        </p:blipFill>
        <p:spPr>
          <a:xfrm>
            <a:off x="389445" y="428283"/>
            <a:ext cx="2742828" cy="2125275"/>
          </a:xfrm>
          <a:prstGeom prst="rect">
            <a:avLst/>
          </a:prstGeom>
        </p:spPr>
      </p:pic>
      <p:pic>
        <p:nvPicPr>
          <p:cNvPr id="7" name="Resim 6">
            <a:extLst>
              <a:ext uri="{FF2B5EF4-FFF2-40B4-BE49-F238E27FC236}">
                <a16:creationId xmlns:a16="http://schemas.microsoft.com/office/drawing/2014/main" id="{51F3F8CE-47F9-49B6-A4A1-E497C3D50612}"/>
              </a:ext>
            </a:extLst>
          </p:cNvPr>
          <p:cNvPicPr>
            <a:picLocks noChangeAspect="1"/>
          </p:cNvPicPr>
          <p:nvPr/>
        </p:nvPicPr>
        <p:blipFill>
          <a:blip r:embed="rId3"/>
          <a:stretch>
            <a:fillRect/>
          </a:stretch>
        </p:blipFill>
        <p:spPr>
          <a:xfrm>
            <a:off x="3262223" y="417153"/>
            <a:ext cx="2742828" cy="2133311"/>
          </a:xfrm>
          <a:prstGeom prst="rect">
            <a:avLst/>
          </a:prstGeom>
        </p:spPr>
      </p:pic>
      <p:pic>
        <p:nvPicPr>
          <p:cNvPr id="8" name="Resim 7">
            <a:extLst>
              <a:ext uri="{FF2B5EF4-FFF2-40B4-BE49-F238E27FC236}">
                <a16:creationId xmlns:a16="http://schemas.microsoft.com/office/drawing/2014/main" id="{80B8792E-7CCC-4B2F-AF40-3C94FB3F7265}"/>
              </a:ext>
            </a:extLst>
          </p:cNvPr>
          <p:cNvPicPr>
            <a:picLocks noChangeAspect="1"/>
          </p:cNvPicPr>
          <p:nvPr/>
        </p:nvPicPr>
        <p:blipFill>
          <a:blip r:embed="rId4"/>
          <a:stretch>
            <a:fillRect/>
          </a:stretch>
        </p:blipFill>
        <p:spPr>
          <a:xfrm>
            <a:off x="6132090" y="430161"/>
            <a:ext cx="2778918" cy="2133311"/>
          </a:xfrm>
          <a:prstGeom prst="rect">
            <a:avLst/>
          </a:prstGeom>
        </p:spPr>
      </p:pic>
      <p:pic>
        <p:nvPicPr>
          <p:cNvPr id="9" name="Resim 8">
            <a:extLst>
              <a:ext uri="{FF2B5EF4-FFF2-40B4-BE49-F238E27FC236}">
                <a16:creationId xmlns:a16="http://schemas.microsoft.com/office/drawing/2014/main" id="{CB51D7FB-9442-46BF-8BED-D26138150D52}"/>
              </a:ext>
            </a:extLst>
          </p:cNvPr>
          <p:cNvPicPr>
            <a:picLocks noChangeAspect="1"/>
          </p:cNvPicPr>
          <p:nvPr/>
        </p:nvPicPr>
        <p:blipFill>
          <a:blip r:embed="rId5"/>
          <a:stretch>
            <a:fillRect/>
          </a:stretch>
        </p:blipFill>
        <p:spPr>
          <a:xfrm>
            <a:off x="9165087" y="417153"/>
            <a:ext cx="2742828" cy="2146319"/>
          </a:xfrm>
          <a:prstGeom prst="rect">
            <a:avLst/>
          </a:prstGeom>
        </p:spPr>
      </p:pic>
      <p:pic>
        <p:nvPicPr>
          <p:cNvPr id="10" name="Resim 9">
            <a:extLst>
              <a:ext uri="{FF2B5EF4-FFF2-40B4-BE49-F238E27FC236}">
                <a16:creationId xmlns:a16="http://schemas.microsoft.com/office/drawing/2014/main" id="{C5B658F5-C14E-46F1-9693-D70F9C3CA437}"/>
              </a:ext>
            </a:extLst>
          </p:cNvPr>
          <p:cNvPicPr>
            <a:picLocks noChangeAspect="1"/>
          </p:cNvPicPr>
          <p:nvPr/>
        </p:nvPicPr>
        <p:blipFill>
          <a:blip r:embed="rId6"/>
          <a:stretch>
            <a:fillRect/>
          </a:stretch>
        </p:blipFill>
        <p:spPr>
          <a:xfrm>
            <a:off x="9250051" y="3123375"/>
            <a:ext cx="2657864" cy="2065416"/>
          </a:xfrm>
          <a:prstGeom prst="rect">
            <a:avLst/>
          </a:prstGeom>
        </p:spPr>
      </p:pic>
      <p:pic>
        <p:nvPicPr>
          <p:cNvPr id="12" name="Resim 11">
            <a:extLst>
              <a:ext uri="{FF2B5EF4-FFF2-40B4-BE49-F238E27FC236}">
                <a16:creationId xmlns:a16="http://schemas.microsoft.com/office/drawing/2014/main" id="{399A44D9-97C8-4352-8B17-8B46C1AA4281}"/>
              </a:ext>
            </a:extLst>
          </p:cNvPr>
          <p:cNvPicPr>
            <a:picLocks noChangeAspect="1"/>
          </p:cNvPicPr>
          <p:nvPr/>
        </p:nvPicPr>
        <p:blipFill>
          <a:blip r:embed="rId7"/>
          <a:stretch>
            <a:fillRect/>
          </a:stretch>
        </p:blipFill>
        <p:spPr>
          <a:xfrm>
            <a:off x="6288292" y="3123375"/>
            <a:ext cx="2640290" cy="2065416"/>
          </a:xfrm>
          <a:prstGeom prst="rect">
            <a:avLst/>
          </a:prstGeom>
        </p:spPr>
      </p:pic>
      <p:pic>
        <p:nvPicPr>
          <p:cNvPr id="13" name="Resim 12">
            <a:extLst>
              <a:ext uri="{FF2B5EF4-FFF2-40B4-BE49-F238E27FC236}">
                <a16:creationId xmlns:a16="http://schemas.microsoft.com/office/drawing/2014/main" id="{50CB7402-F56A-4CD4-B595-301F9C5C9C62}"/>
              </a:ext>
            </a:extLst>
          </p:cNvPr>
          <p:cNvPicPr>
            <a:picLocks noChangeAspect="1"/>
          </p:cNvPicPr>
          <p:nvPr/>
        </p:nvPicPr>
        <p:blipFill>
          <a:blip r:embed="rId8"/>
          <a:stretch>
            <a:fillRect/>
          </a:stretch>
        </p:blipFill>
        <p:spPr>
          <a:xfrm>
            <a:off x="3302251" y="3123375"/>
            <a:ext cx="2793749" cy="2174926"/>
          </a:xfrm>
          <a:prstGeom prst="rect">
            <a:avLst/>
          </a:prstGeom>
        </p:spPr>
      </p:pic>
      <p:pic>
        <p:nvPicPr>
          <p:cNvPr id="14" name="Resim 13">
            <a:extLst>
              <a:ext uri="{FF2B5EF4-FFF2-40B4-BE49-F238E27FC236}">
                <a16:creationId xmlns:a16="http://schemas.microsoft.com/office/drawing/2014/main" id="{0C38C412-C89A-477C-9FDD-32CD5957462B}"/>
              </a:ext>
            </a:extLst>
          </p:cNvPr>
          <p:cNvPicPr>
            <a:picLocks noChangeAspect="1"/>
          </p:cNvPicPr>
          <p:nvPr/>
        </p:nvPicPr>
        <p:blipFill>
          <a:blip r:embed="rId9"/>
          <a:stretch>
            <a:fillRect/>
          </a:stretch>
        </p:blipFill>
        <p:spPr>
          <a:xfrm>
            <a:off x="389445" y="3123375"/>
            <a:ext cx="2779072" cy="2174926"/>
          </a:xfrm>
          <a:prstGeom prst="rect">
            <a:avLst/>
          </a:prstGeom>
        </p:spPr>
      </p:pic>
      <p:sp>
        <p:nvSpPr>
          <p:cNvPr id="11" name="Oval 10">
            <a:extLst>
              <a:ext uri="{FF2B5EF4-FFF2-40B4-BE49-F238E27FC236}">
                <a16:creationId xmlns:a16="http://schemas.microsoft.com/office/drawing/2014/main" id="{4829B868-7D57-47B1-9C21-23C128C3978B}"/>
              </a:ext>
            </a:extLst>
          </p:cNvPr>
          <p:cNvSpPr/>
          <p:nvPr/>
        </p:nvSpPr>
        <p:spPr>
          <a:xfrm>
            <a:off x="2116995" y="2280424"/>
            <a:ext cx="544040" cy="346214"/>
          </a:xfrm>
          <a:prstGeom prst="ellipse">
            <a:avLst/>
          </a:prstGeom>
          <a:noFill/>
          <a:ln w="571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tr-TR" dirty="0"/>
          </a:p>
        </p:txBody>
      </p:sp>
      <p:sp>
        <p:nvSpPr>
          <p:cNvPr id="15" name="Oval 14">
            <a:extLst>
              <a:ext uri="{FF2B5EF4-FFF2-40B4-BE49-F238E27FC236}">
                <a16:creationId xmlns:a16="http://schemas.microsoft.com/office/drawing/2014/main" id="{F7DCB85A-21CB-4838-93AC-745B29B6E8BE}"/>
              </a:ext>
            </a:extLst>
          </p:cNvPr>
          <p:cNvSpPr/>
          <p:nvPr/>
        </p:nvSpPr>
        <p:spPr>
          <a:xfrm>
            <a:off x="7924607" y="2317598"/>
            <a:ext cx="544040" cy="346214"/>
          </a:xfrm>
          <a:prstGeom prst="ellipse">
            <a:avLst/>
          </a:prstGeom>
          <a:noFill/>
          <a:ln w="571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tr-TR" dirty="0"/>
          </a:p>
        </p:txBody>
      </p:sp>
      <p:sp>
        <p:nvSpPr>
          <p:cNvPr id="16" name="Oval 15">
            <a:extLst>
              <a:ext uri="{FF2B5EF4-FFF2-40B4-BE49-F238E27FC236}">
                <a16:creationId xmlns:a16="http://schemas.microsoft.com/office/drawing/2014/main" id="{E959718B-B727-4EBB-8A94-3FCCFF31F194}"/>
              </a:ext>
            </a:extLst>
          </p:cNvPr>
          <p:cNvSpPr/>
          <p:nvPr/>
        </p:nvSpPr>
        <p:spPr>
          <a:xfrm>
            <a:off x="4986862" y="2253280"/>
            <a:ext cx="544040" cy="346214"/>
          </a:xfrm>
          <a:prstGeom prst="ellipse">
            <a:avLst/>
          </a:prstGeom>
          <a:noFill/>
          <a:ln w="571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tr-TR" dirty="0"/>
          </a:p>
        </p:txBody>
      </p:sp>
      <p:sp>
        <p:nvSpPr>
          <p:cNvPr id="17" name="Oval 16">
            <a:extLst>
              <a:ext uri="{FF2B5EF4-FFF2-40B4-BE49-F238E27FC236}">
                <a16:creationId xmlns:a16="http://schemas.microsoft.com/office/drawing/2014/main" id="{E868546D-049D-48F9-9532-DDEF0F452EF9}"/>
              </a:ext>
            </a:extLst>
          </p:cNvPr>
          <p:cNvSpPr/>
          <p:nvPr/>
        </p:nvSpPr>
        <p:spPr>
          <a:xfrm>
            <a:off x="10906946" y="2272013"/>
            <a:ext cx="544040" cy="346214"/>
          </a:xfrm>
          <a:prstGeom prst="ellipse">
            <a:avLst/>
          </a:prstGeom>
          <a:noFill/>
          <a:ln w="571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tr-TR" dirty="0"/>
          </a:p>
        </p:txBody>
      </p:sp>
      <p:sp>
        <p:nvSpPr>
          <p:cNvPr id="18" name="Oval 17">
            <a:extLst>
              <a:ext uri="{FF2B5EF4-FFF2-40B4-BE49-F238E27FC236}">
                <a16:creationId xmlns:a16="http://schemas.microsoft.com/office/drawing/2014/main" id="{8DD349D2-03E7-47DC-BA27-337463C9D558}"/>
              </a:ext>
            </a:extLst>
          </p:cNvPr>
          <p:cNvSpPr/>
          <p:nvPr/>
        </p:nvSpPr>
        <p:spPr>
          <a:xfrm>
            <a:off x="10909541" y="4952087"/>
            <a:ext cx="544040" cy="346214"/>
          </a:xfrm>
          <a:prstGeom prst="ellipse">
            <a:avLst/>
          </a:prstGeom>
          <a:noFill/>
          <a:ln w="571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tr-TR" dirty="0"/>
          </a:p>
        </p:txBody>
      </p:sp>
      <p:sp>
        <p:nvSpPr>
          <p:cNvPr id="19" name="Oval 18">
            <a:extLst>
              <a:ext uri="{FF2B5EF4-FFF2-40B4-BE49-F238E27FC236}">
                <a16:creationId xmlns:a16="http://schemas.microsoft.com/office/drawing/2014/main" id="{0CF519C4-A29A-46C4-B010-40B715562BD1}"/>
              </a:ext>
            </a:extLst>
          </p:cNvPr>
          <p:cNvSpPr/>
          <p:nvPr/>
        </p:nvSpPr>
        <p:spPr>
          <a:xfrm>
            <a:off x="7971685" y="4952087"/>
            <a:ext cx="544040" cy="346214"/>
          </a:xfrm>
          <a:prstGeom prst="ellipse">
            <a:avLst/>
          </a:prstGeom>
          <a:noFill/>
          <a:ln w="571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tr-TR" dirty="0"/>
          </a:p>
        </p:txBody>
      </p:sp>
      <p:sp>
        <p:nvSpPr>
          <p:cNvPr id="20" name="Oval 19">
            <a:extLst>
              <a:ext uri="{FF2B5EF4-FFF2-40B4-BE49-F238E27FC236}">
                <a16:creationId xmlns:a16="http://schemas.microsoft.com/office/drawing/2014/main" id="{A20CDBFB-CA16-48BE-B59D-43949905445F}"/>
              </a:ext>
            </a:extLst>
          </p:cNvPr>
          <p:cNvSpPr/>
          <p:nvPr/>
        </p:nvSpPr>
        <p:spPr>
          <a:xfrm>
            <a:off x="5023759" y="5015684"/>
            <a:ext cx="544040" cy="346214"/>
          </a:xfrm>
          <a:prstGeom prst="ellipse">
            <a:avLst/>
          </a:prstGeom>
          <a:noFill/>
          <a:ln w="571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tr-TR" dirty="0"/>
          </a:p>
        </p:txBody>
      </p:sp>
      <p:sp>
        <p:nvSpPr>
          <p:cNvPr id="21" name="Oval 20">
            <a:extLst>
              <a:ext uri="{FF2B5EF4-FFF2-40B4-BE49-F238E27FC236}">
                <a16:creationId xmlns:a16="http://schemas.microsoft.com/office/drawing/2014/main" id="{024BD97D-A2E4-4280-AB7C-4562E867DB65}"/>
              </a:ext>
            </a:extLst>
          </p:cNvPr>
          <p:cNvSpPr/>
          <p:nvPr/>
        </p:nvSpPr>
        <p:spPr>
          <a:xfrm>
            <a:off x="2189782" y="5051558"/>
            <a:ext cx="544040" cy="346214"/>
          </a:xfrm>
          <a:prstGeom prst="ellipse">
            <a:avLst/>
          </a:prstGeom>
          <a:noFill/>
          <a:ln w="571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tr-TR" dirty="0"/>
          </a:p>
        </p:txBody>
      </p:sp>
      <p:cxnSp>
        <p:nvCxnSpPr>
          <p:cNvPr id="22" name="Düz Ok Bağlayıcısı 21">
            <a:extLst>
              <a:ext uri="{FF2B5EF4-FFF2-40B4-BE49-F238E27FC236}">
                <a16:creationId xmlns:a16="http://schemas.microsoft.com/office/drawing/2014/main" id="{EE8E76CF-8F8C-45F2-828C-6305119A1A77}"/>
              </a:ext>
            </a:extLst>
          </p:cNvPr>
          <p:cNvCxnSpPr/>
          <p:nvPr/>
        </p:nvCxnSpPr>
        <p:spPr>
          <a:xfrm>
            <a:off x="2886027" y="1784412"/>
            <a:ext cx="416858"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Düz Ok Bağlayıcısı 22">
            <a:extLst>
              <a:ext uri="{FF2B5EF4-FFF2-40B4-BE49-F238E27FC236}">
                <a16:creationId xmlns:a16="http://schemas.microsoft.com/office/drawing/2014/main" id="{483F8454-55EE-4BF1-B891-804C3BA8A386}"/>
              </a:ext>
            </a:extLst>
          </p:cNvPr>
          <p:cNvCxnSpPr>
            <a:cxnSpLocks/>
          </p:cNvCxnSpPr>
          <p:nvPr/>
        </p:nvCxnSpPr>
        <p:spPr>
          <a:xfrm>
            <a:off x="10450888" y="2618227"/>
            <a:ext cx="0" cy="435006"/>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Düz Ok Bağlayıcısı 23">
            <a:extLst>
              <a:ext uri="{FF2B5EF4-FFF2-40B4-BE49-F238E27FC236}">
                <a16:creationId xmlns:a16="http://schemas.microsoft.com/office/drawing/2014/main" id="{E91753DC-9D8D-4EC3-B70A-75889D874DA1}"/>
              </a:ext>
            </a:extLst>
          </p:cNvPr>
          <p:cNvCxnSpPr>
            <a:cxnSpLocks/>
          </p:cNvCxnSpPr>
          <p:nvPr/>
        </p:nvCxnSpPr>
        <p:spPr>
          <a:xfrm flipH="1">
            <a:off x="2928821" y="4328604"/>
            <a:ext cx="462449"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Düz Ok Bağlayıcısı 24">
            <a:extLst>
              <a:ext uri="{FF2B5EF4-FFF2-40B4-BE49-F238E27FC236}">
                <a16:creationId xmlns:a16="http://schemas.microsoft.com/office/drawing/2014/main" id="{D9879B52-31B6-44CE-A7AF-61E378D17AFB}"/>
              </a:ext>
            </a:extLst>
          </p:cNvPr>
          <p:cNvCxnSpPr>
            <a:cxnSpLocks/>
          </p:cNvCxnSpPr>
          <p:nvPr/>
        </p:nvCxnSpPr>
        <p:spPr>
          <a:xfrm flipH="1">
            <a:off x="5878498" y="4227252"/>
            <a:ext cx="507183"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Düz Ok Bağlayıcısı 25">
            <a:extLst>
              <a:ext uri="{FF2B5EF4-FFF2-40B4-BE49-F238E27FC236}">
                <a16:creationId xmlns:a16="http://schemas.microsoft.com/office/drawing/2014/main" id="{4002B792-97F0-4A12-8D09-731FAE061369}"/>
              </a:ext>
            </a:extLst>
          </p:cNvPr>
          <p:cNvCxnSpPr>
            <a:cxnSpLocks/>
          </p:cNvCxnSpPr>
          <p:nvPr/>
        </p:nvCxnSpPr>
        <p:spPr>
          <a:xfrm flipH="1">
            <a:off x="8790116" y="4205057"/>
            <a:ext cx="459935"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Düz Ok Bağlayıcısı 26">
            <a:extLst>
              <a:ext uri="{FF2B5EF4-FFF2-40B4-BE49-F238E27FC236}">
                <a16:creationId xmlns:a16="http://schemas.microsoft.com/office/drawing/2014/main" id="{B1C7B70A-9C33-4F5E-8F3F-2E148771E3F0}"/>
              </a:ext>
            </a:extLst>
          </p:cNvPr>
          <p:cNvCxnSpPr/>
          <p:nvPr/>
        </p:nvCxnSpPr>
        <p:spPr>
          <a:xfrm>
            <a:off x="8833193" y="1784412"/>
            <a:ext cx="416858"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Düz Ok Bağlayıcısı 27">
            <a:extLst>
              <a:ext uri="{FF2B5EF4-FFF2-40B4-BE49-F238E27FC236}">
                <a16:creationId xmlns:a16="http://schemas.microsoft.com/office/drawing/2014/main" id="{08BAFCCD-900E-4E48-ADBE-654BF6416EC3}"/>
              </a:ext>
            </a:extLst>
          </p:cNvPr>
          <p:cNvCxnSpPr/>
          <p:nvPr/>
        </p:nvCxnSpPr>
        <p:spPr>
          <a:xfrm>
            <a:off x="5910353" y="1784412"/>
            <a:ext cx="416858"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3" name="İçerik Yer Tutucusu 32">
            <a:extLst>
              <a:ext uri="{FF2B5EF4-FFF2-40B4-BE49-F238E27FC236}">
                <a16:creationId xmlns:a16="http://schemas.microsoft.com/office/drawing/2014/main" id="{A0E6A516-B6C4-44A4-957F-8A54143F2E72}"/>
              </a:ext>
            </a:extLst>
          </p:cNvPr>
          <p:cNvSpPr>
            <a:spLocks noGrp="1"/>
          </p:cNvSpPr>
          <p:nvPr>
            <p:ph sz="half" idx="1"/>
          </p:nvPr>
        </p:nvSpPr>
        <p:spPr>
          <a:xfrm>
            <a:off x="754602" y="5597423"/>
            <a:ext cx="10599198" cy="579539"/>
          </a:xfrm>
        </p:spPr>
        <p:txBody>
          <a:bodyPr>
            <a:normAutofit/>
          </a:bodyPr>
          <a:lstStyle/>
          <a:p>
            <a:pPr>
              <a:buClrTx/>
            </a:pPr>
            <a:r>
              <a:rPr lang="tr-TR" sz="2000" dirty="0">
                <a:solidFill>
                  <a:schemeClr val="tx1"/>
                </a:solidFill>
              </a:rPr>
              <a:t>Tüm "</a:t>
            </a:r>
            <a:r>
              <a:rPr lang="tr-TR" sz="2000" dirty="0" err="1">
                <a:solidFill>
                  <a:schemeClr val="tx1"/>
                </a:solidFill>
              </a:rPr>
              <a:t>next"lere</a:t>
            </a:r>
            <a:r>
              <a:rPr lang="tr-TR" sz="2000" dirty="0">
                <a:solidFill>
                  <a:schemeClr val="tx1"/>
                </a:solidFill>
              </a:rPr>
              <a:t> tıkladıktan sonra en son "</a:t>
            </a:r>
            <a:r>
              <a:rPr lang="tr-TR" sz="2000" dirty="0" err="1">
                <a:solidFill>
                  <a:schemeClr val="tx1"/>
                </a:solidFill>
              </a:rPr>
              <a:t>install</a:t>
            </a:r>
            <a:r>
              <a:rPr lang="tr-TR" sz="2000" dirty="0">
                <a:solidFill>
                  <a:schemeClr val="tx1"/>
                </a:solidFill>
              </a:rPr>
              <a:t>" tuşuna basıyoruz.</a:t>
            </a:r>
          </a:p>
        </p:txBody>
      </p:sp>
    </p:spTree>
    <p:extLst>
      <p:ext uri="{BB962C8B-B14F-4D97-AF65-F5344CB8AC3E}">
        <p14:creationId xmlns:p14="http://schemas.microsoft.com/office/powerpoint/2010/main" val="31247955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Resim 6">
            <a:extLst>
              <a:ext uri="{FF2B5EF4-FFF2-40B4-BE49-F238E27FC236}">
                <a16:creationId xmlns:a16="http://schemas.microsoft.com/office/drawing/2014/main" id="{F67392F8-6261-4F71-A4D8-E6D5742D5842}"/>
              </a:ext>
            </a:extLst>
          </p:cNvPr>
          <p:cNvPicPr>
            <a:picLocks noChangeAspect="1"/>
          </p:cNvPicPr>
          <p:nvPr/>
        </p:nvPicPr>
        <p:blipFill>
          <a:blip r:embed="rId2"/>
          <a:stretch>
            <a:fillRect/>
          </a:stretch>
        </p:blipFill>
        <p:spPr>
          <a:xfrm>
            <a:off x="544303" y="358205"/>
            <a:ext cx="3202073" cy="2468129"/>
          </a:xfrm>
          <a:prstGeom prst="rect">
            <a:avLst/>
          </a:prstGeom>
        </p:spPr>
      </p:pic>
      <p:pic>
        <p:nvPicPr>
          <p:cNvPr id="8" name="Resim 7">
            <a:extLst>
              <a:ext uri="{FF2B5EF4-FFF2-40B4-BE49-F238E27FC236}">
                <a16:creationId xmlns:a16="http://schemas.microsoft.com/office/drawing/2014/main" id="{80631D8F-A99D-439D-8CD4-56B62B043470}"/>
              </a:ext>
            </a:extLst>
          </p:cNvPr>
          <p:cNvPicPr>
            <a:picLocks noChangeAspect="1"/>
          </p:cNvPicPr>
          <p:nvPr/>
        </p:nvPicPr>
        <p:blipFill rotWithShape="1">
          <a:blip r:embed="rId3"/>
          <a:srcRect b="4607"/>
          <a:stretch/>
        </p:blipFill>
        <p:spPr>
          <a:xfrm>
            <a:off x="4065973" y="358205"/>
            <a:ext cx="3539424" cy="2497874"/>
          </a:xfrm>
          <a:prstGeom prst="rect">
            <a:avLst/>
          </a:prstGeom>
        </p:spPr>
      </p:pic>
      <p:sp>
        <p:nvSpPr>
          <p:cNvPr id="9" name="İçerik Yer Tutucusu 8">
            <a:extLst>
              <a:ext uri="{FF2B5EF4-FFF2-40B4-BE49-F238E27FC236}">
                <a16:creationId xmlns:a16="http://schemas.microsoft.com/office/drawing/2014/main" id="{98E1381F-AFA5-4468-8F3D-31065DD71F5C}"/>
              </a:ext>
            </a:extLst>
          </p:cNvPr>
          <p:cNvSpPr>
            <a:spLocks noGrp="1"/>
          </p:cNvSpPr>
          <p:nvPr>
            <p:ph idx="1"/>
          </p:nvPr>
        </p:nvSpPr>
        <p:spPr>
          <a:xfrm>
            <a:off x="767177" y="3249227"/>
            <a:ext cx="10782671" cy="997548"/>
          </a:xfrm>
        </p:spPr>
        <p:txBody>
          <a:bodyPr>
            <a:normAutofit/>
          </a:bodyPr>
          <a:lstStyle/>
          <a:p>
            <a:pPr algn="just">
              <a:buClrTx/>
              <a:buFont typeface="Arial" panose="020B0604020202020204" pitchFamily="34" charset="0"/>
              <a:buChar char="•"/>
            </a:pPr>
            <a:r>
              <a:rPr lang="tr-TR" sz="2000" dirty="0">
                <a:solidFill>
                  <a:schemeClr val="tx1"/>
                </a:solidFill>
              </a:rPr>
              <a:t>Ve yüklenmesini bekliyoruz. Herhangi bir ayarı değiştirmeden "</a:t>
            </a:r>
            <a:r>
              <a:rPr lang="tr-TR" sz="2000" dirty="0" err="1">
                <a:solidFill>
                  <a:schemeClr val="tx1"/>
                </a:solidFill>
              </a:rPr>
              <a:t>finish</a:t>
            </a:r>
            <a:r>
              <a:rPr lang="tr-TR" sz="2000" dirty="0">
                <a:solidFill>
                  <a:schemeClr val="tx1"/>
                </a:solidFill>
              </a:rPr>
              <a:t>" e tıklıyoruz. "</a:t>
            </a:r>
            <a:r>
              <a:rPr lang="tr-TR" sz="2000" dirty="0" err="1">
                <a:solidFill>
                  <a:schemeClr val="tx1"/>
                </a:solidFill>
              </a:rPr>
              <a:t>Finish"e</a:t>
            </a:r>
            <a:r>
              <a:rPr lang="tr-TR" sz="2000" dirty="0">
                <a:solidFill>
                  <a:schemeClr val="tx1"/>
                </a:solidFill>
              </a:rPr>
              <a:t> tıkladığımızda versiyonlarla alakalı sayfa açılır ve kurulum tamamlanmıştır. Daha sonra "Git </a:t>
            </a:r>
            <a:r>
              <a:rPr lang="tr-TR" sz="2000" dirty="0" err="1">
                <a:solidFill>
                  <a:schemeClr val="tx1"/>
                </a:solidFill>
              </a:rPr>
              <a:t>Bash"ı</a:t>
            </a:r>
            <a:r>
              <a:rPr lang="tr-TR" sz="2000" dirty="0">
                <a:solidFill>
                  <a:schemeClr val="tx1"/>
                </a:solidFill>
              </a:rPr>
              <a:t> açarak "</a:t>
            </a:r>
            <a:r>
              <a:rPr lang="tr-TR" sz="2000" dirty="0" err="1">
                <a:solidFill>
                  <a:schemeClr val="tx1"/>
                </a:solidFill>
              </a:rPr>
              <a:t>user</a:t>
            </a:r>
            <a:r>
              <a:rPr lang="tr-TR" sz="2000" dirty="0">
                <a:solidFill>
                  <a:schemeClr val="tx1"/>
                </a:solidFill>
              </a:rPr>
              <a:t> name" ve "</a:t>
            </a:r>
            <a:r>
              <a:rPr lang="tr-TR" sz="2000" dirty="0" err="1">
                <a:solidFill>
                  <a:schemeClr val="tx1"/>
                </a:solidFill>
              </a:rPr>
              <a:t>user</a:t>
            </a:r>
            <a:r>
              <a:rPr lang="tr-TR" sz="2000" dirty="0">
                <a:solidFill>
                  <a:schemeClr val="tx1"/>
                </a:solidFill>
              </a:rPr>
              <a:t> </a:t>
            </a:r>
            <a:r>
              <a:rPr lang="tr-TR" sz="2000" dirty="0" err="1">
                <a:solidFill>
                  <a:schemeClr val="tx1"/>
                </a:solidFill>
              </a:rPr>
              <a:t>email"imizi</a:t>
            </a:r>
            <a:r>
              <a:rPr lang="tr-TR" sz="2000" dirty="0">
                <a:solidFill>
                  <a:schemeClr val="tx1"/>
                </a:solidFill>
              </a:rPr>
              <a:t> tanımlıyoruz.</a:t>
            </a:r>
          </a:p>
        </p:txBody>
      </p:sp>
      <p:pic>
        <p:nvPicPr>
          <p:cNvPr id="10" name="Resim 9">
            <a:extLst>
              <a:ext uri="{FF2B5EF4-FFF2-40B4-BE49-F238E27FC236}">
                <a16:creationId xmlns:a16="http://schemas.microsoft.com/office/drawing/2014/main" id="{508648D8-4147-4A78-B635-65AFF5765113}"/>
              </a:ext>
            </a:extLst>
          </p:cNvPr>
          <p:cNvPicPr>
            <a:picLocks noChangeAspect="1"/>
          </p:cNvPicPr>
          <p:nvPr/>
        </p:nvPicPr>
        <p:blipFill>
          <a:blip r:embed="rId4"/>
          <a:stretch>
            <a:fillRect/>
          </a:stretch>
        </p:blipFill>
        <p:spPr>
          <a:xfrm>
            <a:off x="8037184" y="358205"/>
            <a:ext cx="3610513" cy="2497874"/>
          </a:xfrm>
          <a:prstGeom prst="rect">
            <a:avLst/>
          </a:prstGeom>
        </p:spPr>
      </p:pic>
      <p:pic>
        <p:nvPicPr>
          <p:cNvPr id="11" name="Resim 10">
            <a:extLst>
              <a:ext uri="{FF2B5EF4-FFF2-40B4-BE49-F238E27FC236}">
                <a16:creationId xmlns:a16="http://schemas.microsoft.com/office/drawing/2014/main" id="{CE6FC447-D993-48C0-AA6C-29335AE28276}"/>
              </a:ext>
            </a:extLst>
          </p:cNvPr>
          <p:cNvPicPr>
            <a:picLocks noChangeAspect="1"/>
          </p:cNvPicPr>
          <p:nvPr/>
        </p:nvPicPr>
        <p:blipFill>
          <a:blip r:embed="rId5"/>
          <a:stretch>
            <a:fillRect/>
          </a:stretch>
        </p:blipFill>
        <p:spPr>
          <a:xfrm>
            <a:off x="5910280" y="4246993"/>
            <a:ext cx="5467350" cy="1400175"/>
          </a:xfrm>
          <a:prstGeom prst="rect">
            <a:avLst/>
          </a:prstGeom>
        </p:spPr>
      </p:pic>
      <p:pic>
        <p:nvPicPr>
          <p:cNvPr id="12" name="Resim 11">
            <a:extLst>
              <a:ext uri="{FF2B5EF4-FFF2-40B4-BE49-F238E27FC236}">
                <a16:creationId xmlns:a16="http://schemas.microsoft.com/office/drawing/2014/main" id="{5649AACD-5D3D-4A46-A37C-DFD35B98433C}"/>
              </a:ext>
            </a:extLst>
          </p:cNvPr>
          <p:cNvPicPr>
            <a:picLocks noChangeAspect="1"/>
          </p:cNvPicPr>
          <p:nvPr/>
        </p:nvPicPr>
        <p:blipFill>
          <a:blip r:embed="rId6"/>
          <a:stretch>
            <a:fillRect/>
          </a:stretch>
        </p:blipFill>
        <p:spPr>
          <a:xfrm>
            <a:off x="878797" y="4323192"/>
            <a:ext cx="4095750" cy="1247775"/>
          </a:xfrm>
          <a:prstGeom prst="rect">
            <a:avLst/>
          </a:prstGeom>
        </p:spPr>
      </p:pic>
      <p:cxnSp>
        <p:nvCxnSpPr>
          <p:cNvPr id="13" name="Düz Ok Bağlayıcısı 12">
            <a:extLst>
              <a:ext uri="{FF2B5EF4-FFF2-40B4-BE49-F238E27FC236}">
                <a16:creationId xmlns:a16="http://schemas.microsoft.com/office/drawing/2014/main" id="{3B69A4D2-308F-49CA-8EC6-6C83071AE4E1}"/>
              </a:ext>
            </a:extLst>
          </p:cNvPr>
          <p:cNvCxnSpPr/>
          <p:nvPr/>
        </p:nvCxnSpPr>
        <p:spPr>
          <a:xfrm>
            <a:off x="7605397" y="1748901"/>
            <a:ext cx="416858"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Düz Ok Bağlayıcısı 13">
            <a:extLst>
              <a:ext uri="{FF2B5EF4-FFF2-40B4-BE49-F238E27FC236}">
                <a16:creationId xmlns:a16="http://schemas.microsoft.com/office/drawing/2014/main" id="{2B9B9CA0-6C9F-47C4-A876-A9B9ECDC2DDE}"/>
              </a:ext>
            </a:extLst>
          </p:cNvPr>
          <p:cNvCxnSpPr/>
          <p:nvPr/>
        </p:nvCxnSpPr>
        <p:spPr>
          <a:xfrm>
            <a:off x="3649115" y="1651247"/>
            <a:ext cx="416858"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72E65272-3C92-4585-9CF4-9F4AC7964C1F}"/>
              </a:ext>
            </a:extLst>
          </p:cNvPr>
          <p:cNvSpPr/>
          <p:nvPr/>
        </p:nvSpPr>
        <p:spPr>
          <a:xfrm>
            <a:off x="3202336" y="2509865"/>
            <a:ext cx="544040" cy="346214"/>
          </a:xfrm>
          <a:prstGeom prst="ellipse">
            <a:avLst/>
          </a:prstGeom>
          <a:noFill/>
          <a:ln w="571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tr-TR" dirty="0"/>
          </a:p>
        </p:txBody>
      </p:sp>
      <p:sp>
        <p:nvSpPr>
          <p:cNvPr id="17" name="Oval 16">
            <a:extLst>
              <a:ext uri="{FF2B5EF4-FFF2-40B4-BE49-F238E27FC236}">
                <a16:creationId xmlns:a16="http://schemas.microsoft.com/office/drawing/2014/main" id="{8F61C41D-B016-453C-A18F-3ADC8E32C367}"/>
              </a:ext>
            </a:extLst>
          </p:cNvPr>
          <p:cNvSpPr/>
          <p:nvPr/>
        </p:nvSpPr>
        <p:spPr>
          <a:xfrm>
            <a:off x="6404409" y="2637619"/>
            <a:ext cx="544040" cy="346214"/>
          </a:xfrm>
          <a:prstGeom prst="ellipse">
            <a:avLst/>
          </a:prstGeom>
          <a:noFill/>
          <a:ln w="571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tr-TR" dirty="0"/>
          </a:p>
        </p:txBody>
      </p:sp>
    </p:spTree>
    <p:extLst>
      <p:ext uri="{BB962C8B-B14F-4D97-AF65-F5344CB8AC3E}">
        <p14:creationId xmlns:p14="http://schemas.microsoft.com/office/powerpoint/2010/main" val="33029243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Unvan 9">
            <a:extLst>
              <a:ext uri="{FF2B5EF4-FFF2-40B4-BE49-F238E27FC236}">
                <a16:creationId xmlns:a16="http://schemas.microsoft.com/office/drawing/2014/main" id="{9EBAAC03-130C-40AA-BFDD-547F8D284BA2}"/>
              </a:ext>
            </a:extLst>
          </p:cNvPr>
          <p:cNvSpPr>
            <a:spLocks noGrp="1"/>
          </p:cNvSpPr>
          <p:nvPr>
            <p:ph type="title"/>
          </p:nvPr>
        </p:nvSpPr>
        <p:spPr>
          <a:xfrm>
            <a:off x="2026950" y="327586"/>
            <a:ext cx="7729728" cy="1188720"/>
          </a:xfrm>
        </p:spPr>
        <p:txBody>
          <a:bodyPr/>
          <a:lstStyle/>
          <a:p>
            <a:pPr algn="ctr"/>
            <a:r>
              <a:rPr lang="tr-TR" u="sng" dirty="0">
                <a:solidFill>
                  <a:schemeClr val="tx1"/>
                </a:solidFill>
                <a:effectLst>
                  <a:outerShdw blurRad="38100" dist="38100" dir="2700000" algn="tl">
                    <a:srgbClr val="000000">
                      <a:alpha val="43137"/>
                    </a:srgbClr>
                  </a:outerShdw>
                </a:effectLst>
              </a:rPr>
              <a:t>Git Nasıl Kullanılır</a:t>
            </a:r>
          </a:p>
        </p:txBody>
      </p:sp>
      <p:pic>
        <p:nvPicPr>
          <p:cNvPr id="5" name="Resim 4">
            <a:extLst>
              <a:ext uri="{FF2B5EF4-FFF2-40B4-BE49-F238E27FC236}">
                <a16:creationId xmlns:a16="http://schemas.microsoft.com/office/drawing/2014/main" id="{2BDE3D6A-7B54-4991-87DB-CCF74C6EB8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199" y="3122157"/>
            <a:ext cx="5232871" cy="706937"/>
          </a:xfrm>
          <a:prstGeom prst="rect">
            <a:avLst/>
          </a:prstGeom>
        </p:spPr>
      </p:pic>
      <p:sp>
        <p:nvSpPr>
          <p:cNvPr id="6" name="Dikdörtgen 5">
            <a:extLst>
              <a:ext uri="{FF2B5EF4-FFF2-40B4-BE49-F238E27FC236}">
                <a16:creationId xmlns:a16="http://schemas.microsoft.com/office/drawing/2014/main" id="{7DF34615-19ED-4719-9EC1-C77C201DBFE3}"/>
              </a:ext>
            </a:extLst>
          </p:cNvPr>
          <p:cNvSpPr/>
          <p:nvPr/>
        </p:nvSpPr>
        <p:spPr>
          <a:xfrm>
            <a:off x="838200" y="1627643"/>
            <a:ext cx="5053614" cy="707886"/>
          </a:xfrm>
          <a:prstGeom prst="rect">
            <a:avLst/>
          </a:prstGeom>
        </p:spPr>
        <p:txBody>
          <a:bodyPr wrap="square">
            <a:spAutoFit/>
          </a:bodyPr>
          <a:lstStyle/>
          <a:p>
            <a:pPr marL="342900" indent="-342900" algn="just">
              <a:buFont typeface="Arial" panose="020B0604020202020204" pitchFamily="34" charset="0"/>
              <a:buChar char="•"/>
            </a:pPr>
            <a:r>
              <a:rPr lang="tr-TR" sz="2000" b="1" u="sng" dirty="0"/>
              <a:t>git </a:t>
            </a:r>
            <a:r>
              <a:rPr lang="tr-TR" sz="2000" b="1" u="sng" dirty="0" err="1"/>
              <a:t>config</a:t>
            </a:r>
            <a:r>
              <a:rPr lang="tr-TR" sz="2000" b="1" u="sng" dirty="0"/>
              <a:t> :</a:t>
            </a:r>
            <a:r>
              <a:rPr lang="tr-TR" sz="2000" dirty="0"/>
              <a:t> Git kullanıcı bilgilerini ve ayarlarını yapılandırmak için kullanılır.</a:t>
            </a:r>
          </a:p>
        </p:txBody>
      </p:sp>
      <p:sp>
        <p:nvSpPr>
          <p:cNvPr id="7" name="Dikdörtgen 6">
            <a:extLst>
              <a:ext uri="{FF2B5EF4-FFF2-40B4-BE49-F238E27FC236}">
                <a16:creationId xmlns:a16="http://schemas.microsoft.com/office/drawing/2014/main" id="{2523FB30-1333-437F-86F6-FF9E51FA1C70}"/>
              </a:ext>
            </a:extLst>
          </p:cNvPr>
          <p:cNvSpPr/>
          <p:nvPr/>
        </p:nvSpPr>
        <p:spPr>
          <a:xfrm>
            <a:off x="6448145" y="2767739"/>
            <a:ext cx="5057316" cy="707886"/>
          </a:xfrm>
          <a:prstGeom prst="rect">
            <a:avLst/>
          </a:prstGeom>
        </p:spPr>
        <p:txBody>
          <a:bodyPr wrap="square">
            <a:spAutoFit/>
          </a:bodyPr>
          <a:lstStyle/>
          <a:p>
            <a:pPr marL="285750" indent="-285750" algn="just">
              <a:buFont typeface="Arial" panose="020B0604020202020204" pitchFamily="34" charset="0"/>
              <a:buChar char="•"/>
            </a:pPr>
            <a:r>
              <a:rPr lang="tr-TR" sz="2000" b="1" u="sng" dirty="0"/>
              <a:t>git </a:t>
            </a:r>
            <a:r>
              <a:rPr lang="tr-TR" sz="2000" b="1" u="sng" dirty="0" err="1"/>
              <a:t>diff</a:t>
            </a:r>
            <a:r>
              <a:rPr lang="tr-TR" sz="2000" b="1" u="sng" dirty="0"/>
              <a:t> :</a:t>
            </a:r>
            <a:r>
              <a:rPr lang="tr-TR" sz="2000" dirty="0"/>
              <a:t> Yapılan değişiklikleri görmek için kullanılır.</a:t>
            </a:r>
          </a:p>
        </p:txBody>
      </p:sp>
      <p:sp>
        <p:nvSpPr>
          <p:cNvPr id="8" name="Dikdörtgen 7">
            <a:extLst>
              <a:ext uri="{FF2B5EF4-FFF2-40B4-BE49-F238E27FC236}">
                <a16:creationId xmlns:a16="http://schemas.microsoft.com/office/drawing/2014/main" id="{51BA1C8E-5FF2-4B94-81C3-B440E520A4A0}"/>
              </a:ext>
            </a:extLst>
          </p:cNvPr>
          <p:cNvSpPr/>
          <p:nvPr/>
        </p:nvSpPr>
        <p:spPr>
          <a:xfrm>
            <a:off x="838198" y="3920763"/>
            <a:ext cx="5133513" cy="707886"/>
          </a:xfrm>
          <a:prstGeom prst="rect">
            <a:avLst/>
          </a:prstGeom>
        </p:spPr>
        <p:txBody>
          <a:bodyPr wrap="square">
            <a:spAutoFit/>
          </a:bodyPr>
          <a:lstStyle/>
          <a:p>
            <a:pPr marL="285750" indent="-285750" algn="just">
              <a:buFont typeface="Arial" panose="020B0604020202020204" pitchFamily="34" charset="0"/>
              <a:buChar char="•"/>
            </a:pPr>
            <a:r>
              <a:rPr lang="tr-TR" sz="2000" b="1" u="sng" dirty="0"/>
              <a:t>git </a:t>
            </a:r>
            <a:r>
              <a:rPr lang="tr-TR" sz="2000" b="1" u="sng" dirty="0" err="1"/>
              <a:t>clone</a:t>
            </a:r>
            <a:r>
              <a:rPr lang="tr-TR" sz="2000" b="1" u="sng" dirty="0"/>
              <a:t> : </a:t>
            </a:r>
            <a:r>
              <a:rPr lang="tr-TR" sz="2000" dirty="0"/>
              <a:t>Var olan bir Git deposunu kopyalamak için kullanılır.</a:t>
            </a:r>
          </a:p>
        </p:txBody>
      </p:sp>
      <p:pic>
        <p:nvPicPr>
          <p:cNvPr id="12" name="Resim 11">
            <a:extLst>
              <a:ext uri="{FF2B5EF4-FFF2-40B4-BE49-F238E27FC236}">
                <a16:creationId xmlns:a16="http://schemas.microsoft.com/office/drawing/2014/main" id="{9F3A3E90-44DB-43C2-BEA0-544810E0FD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198" y="4739986"/>
            <a:ext cx="4057204" cy="745358"/>
          </a:xfrm>
          <a:prstGeom prst="rect">
            <a:avLst/>
          </a:prstGeom>
        </p:spPr>
      </p:pic>
      <p:sp>
        <p:nvSpPr>
          <p:cNvPr id="15" name="Dikdörtgen 14">
            <a:extLst>
              <a:ext uri="{FF2B5EF4-FFF2-40B4-BE49-F238E27FC236}">
                <a16:creationId xmlns:a16="http://schemas.microsoft.com/office/drawing/2014/main" id="{0F12DA85-D85B-4ED7-AB03-6EF73F5079AB}"/>
              </a:ext>
            </a:extLst>
          </p:cNvPr>
          <p:cNvSpPr/>
          <p:nvPr/>
        </p:nvSpPr>
        <p:spPr>
          <a:xfrm>
            <a:off x="838199" y="2356182"/>
            <a:ext cx="4745855" cy="707886"/>
          </a:xfrm>
          <a:prstGeom prst="rect">
            <a:avLst/>
          </a:prstGeom>
        </p:spPr>
        <p:txBody>
          <a:bodyPr wrap="square">
            <a:spAutoFit/>
          </a:bodyPr>
          <a:lstStyle/>
          <a:p>
            <a:pPr marL="285750" indent="-285750" algn="just">
              <a:buFont typeface="Arial" panose="020B0604020202020204" pitchFamily="34" charset="0"/>
              <a:buChar char="•"/>
            </a:pPr>
            <a:r>
              <a:rPr lang="tr-TR" sz="2000" b="1" u="sng" dirty="0"/>
              <a:t>git </a:t>
            </a:r>
            <a:r>
              <a:rPr lang="tr-TR" sz="2000" b="1" u="sng" dirty="0" err="1"/>
              <a:t>init</a:t>
            </a:r>
            <a:r>
              <a:rPr lang="tr-TR" sz="2000" b="1" u="sng" dirty="0"/>
              <a:t> :</a:t>
            </a:r>
            <a:r>
              <a:rPr lang="tr-TR" sz="2000" dirty="0"/>
              <a:t> Mevcut bir klasörü yeni bir Git deposuna dönüştürmek için kullanılır.</a:t>
            </a:r>
          </a:p>
        </p:txBody>
      </p:sp>
      <p:sp>
        <p:nvSpPr>
          <p:cNvPr id="16" name="Dikdörtgen 15">
            <a:extLst>
              <a:ext uri="{FF2B5EF4-FFF2-40B4-BE49-F238E27FC236}">
                <a16:creationId xmlns:a16="http://schemas.microsoft.com/office/drawing/2014/main" id="{A6A3C981-DD6F-41D3-BE48-E9FA19BB27A5}"/>
              </a:ext>
            </a:extLst>
          </p:cNvPr>
          <p:cNvSpPr/>
          <p:nvPr/>
        </p:nvSpPr>
        <p:spPr>
          <a:xfrm>
            <a:off x="6448144" y="1627643"/>
            <a:ext cx="5143129" cy="1015663"/>
          </a:xfrm>
          <a:prstGeom prst="rect">
            <a:avLst/>
          </a:prstGeom>
        </p:spPr>
        <p:txBody>
          <a:bodyPr wrap="square">
            <a:spAutoFit/>
          </a:bodyPr>
          <a:lstStyle/>
          <a:p>
            <a:pPr marL="285750" indent="-285750" algn="just">
              <a:buFont typeface="Arial" panose="020B0604020202020204" pitchFamily="34" charset="0"/>
              <a:buChar char="•"/>
            </a:pPr>
            <a:r>
              <a:rPr lang="tr-TR" sz="2000" b="1" u="sng" dirty="0"/>
              <a:t>git </a:t>
            </a:r>
            <a:r>
              <a:rPr lang="tr-TR" sz="2000" b="1" u="sng" dirty="0" err="1"/>
              <a:t>add</a:t>
            </a:r>
            <a:r>
              <a:rPr lang="tr-TR" sz="2000" b="1" u="sng" dirty="0"/>
              <a:t> :</a:t>
            </a:r>
            <a:r>
              <a:rPr lang="tr-TR" sz="2000" b="1" dirty="0"/>
              <a:t> </a:t>
            </a:r>
            <a:r>
              <a:rPr lang="tr-TR" sz="2000" dirty="0"/>
              <a:t>Dosyaları takibe almak veya yapılan değişiklikleri </a:t>
            </a:r>
            <a:r>
              <a:rPr lang="tr-TR" sz="2000" dirty="0" err="1"/>
              <a:t>commit</a:t>
            </a:r>
            <a:r>
              <a:rPr lang="tr-TR" sz="2000" dirty="0"/>
              <a:t> etmeye hazırlamak için kullanılır.</a:t>
            </a:r>
          </a:p>
        </p:txBody>
      </p:sp>
      <p:pic>
        <p:nvPicPr>
          <p:cNvPr id="20" name="Resim 19">
            <a:extLst>
              <a:ext uri="{FF2B5EF4-FFF2-40B4-BE49-F238E27FC236}">
                <a16:creationId xmlns:a16="http://schemas.microsoft.com/office/drawing/2014/main" id="{68D0E061-007A-466B-9CDC-A1662E05E4F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87304" y="3559053"/>
            <a:ext cx="3472525" cy="2823992"/>
          </a:xfrm>
          <a:prstGeom prst="rect">
            <a:avLst/>
          </a:prstGeom>
        </p:spPr>
      </p:pic>
    </p:spTree>
    <p:extLst>
      <p:ext uri="{BB962C8B-B14F-4D97-AF65-F5344CB8AC3E}">
        <p14:creationId xmlns:p14="http://schemas.microsoft.com/office/powerpoint/2010/main" val="31936378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799C7F61-89B2-431D-84D1-CA1D01E07BE1}"/>
              </a:ext>
            </a:extLst>
          </p:cNvPr>
          <p:cNvSpPr>
            <a:spLocks noGrp="1"/>
          </p:cNvSpPr>
          <p:nvPr>
            <p:ph idx="1"/>
          </p:nvPr>
        </p:nvSpPr>
        <p:spPr>
          <a:xfrm>
            <a:off x="433371" y="516649"/>
            <a:ext cx="6104138" cy="2042050"/>
          </a:xfrm>
        </p:spPr>
        <p:txBody>
          <a:bodyPr>
            <a:normAutofit fontScale="32500" lnSpcReduction="20000"/>
          </a:bodyPr>
          <a:lstStyle/>
          <a:p>
            <a:pPr algn="just">
              <a:buClrTx/>
            </a:pPr>
            <a:r>
              <a:rPr lang="tr-TR" sz="6200" b="1" u="sng" dirty="0">
                <a:solidFill>
                  <a:schemeClr val="tx1"/>
                </a:solidFill>
              </a:rPr>
              <a:t>git </a:t>
            </a:r>
            <a:r>
              <a:rPr lang="tr-TR" sz="6200" b="1" u="sng" dirty="0" err="1">
                <a:solidFill>
                  <a:schemeClr val="tx1"/>
                </a:solidFill>
              </a:rPr>
              <a:t>reset</a:t>
            </a:r>
            <a:r>
              <a:rPr lang="tr-TR" sz="6200" b="1" u="sng" dirty="0">
                <a:solidFill>
                  <a:schemeClr val="tx1"/>
                </a:solidFill>
              </a:rPr>
              <a:t> : </a:t>
            </a:r>
            <a:r>
              <a:rPr lang="tr-TR" sz="6200" dirty="0" err="1">
                <a:solidFill>
                  <a:schemeClr val="tx1"/>
                </a:solidFill>
              </a:rPr>
              <a:t>Commit’leri</a:t>
            </a:r>
            <a:r>
              <a:rPr lang="tr-TR" sz="6200" dirty="0">
                <a:solidFill>
                  <a:schemeClr val="tx1"/>
                </a:solidFill>
              </a:rPr>
              <a:t> veya eklenen dosyaları geri almak için kullanılır.</a:t>
            </a:r>
            <a:endParaRPr lang="tr-TR" sz="6200" b="1" u="sng" dirty="0">
              <a:solidFill>
                <a:schemeClr val="tx1"/>
              </a:solidFill>
            </a:endParaRPr>
          </a:p>
          <a:p>
            <a:pPr algn="just">
              <a:buClrTx/>
            </a:pPr>
            <a:r>
              <a:rPr lang="tr-TR" sz="6200" b="1" u="sng" dirty="0">
                <a:solidFill>
                  <a:schemeClr val="tx1"/>
                </a:solidFill>
              </a:rPr>
              <a:t>git </a:t>
            </a:r>
            <a:r>
              <a:rPr lang="tr-TR" sz="6200" b="1" u="sng" dirty="0" err="1">
                <a:solidFill>
                  <a:schemeClr val="tx1"/>
                </a:solidFill>
              </a:rPr>
              <a:t>status</a:t>
            </a:r>
            <a:r>
              <a:rPr lang="tr-TR" sz="6200" b="1" u="sng" dirty="0">
                <a:solidFill>
                  <a:schemeClr val="tx1"/>
                </a:solidFill>
              </a:rPr>
              <a:t> : </a:t>
            </a:r>
            <a:r>
              <a:rPr lang="tr-TR" sz="6200" dirty="0">
                <a:solidFill>
                  <a:schemeClr val="tx1"/>
                </a:solidFill>
              </a:rPr>
              <a:t>Çalışma alanındaki değişikliklerin durumunu gösterir.</a:t>
            </a:r>
          </a:p>
          <a:p>
            <a:pPr algn="just">
              <a:buClrTx/>
            </a:pPr>
            <a:r>
              <a:rPr lang="tr-TR" sz="6200" b="1" u="sng" dirty="0">
                <a:solidFill>
                  <a:schemeClr val="tx1"/>
                </a:solidFill>
              </a:rPr>
              <a:t>git </a:t>
            </a:r>
            <a:r>
              <a:rPr lang="tr-TR" sz="6200" b="1" u="sng" dirty="0" err="1">
                <a:solidFill>
                  <a:schemeClr val="tx1"/>
                </a:solidFill>
              </a:rPr>
              <a:t>rm</a:t>
            </a:r>
            <a:r>
              <a:rPr lang="tr-TR" sz="6200" b="1" u="sng" dirty="0">
                <a:solidFill>
                  <a:schemeClr val="tx1"/>
                </a:solidFill>
              </a:rPr>
              <a:t> : </a:t>
            </a:r>
            <a:r>
              <a:rPr lang="tr-TR" sz="6200" dirty="0">
                <a:solidFill>
                  <a:schemeClr val="tx1"/>
                </a:solidFill>
              </a:rPr>
              <a:t>Git deposundan dosya silmek için kullanılır.</a:t>
            </a:r>
          </a:p>
          <a:p>
            <a:pPr algn="just">
              <a:buClrTx/>
            </a:pPr>
            <a:r>
              <a:rPr lang="tr-TR" sz="6200" b="1" u="sng" dirty="0">
                <a:solidFill>
                  <a:schemeClr val="tx1"/>
                </a:solidFill>
              </a:rPr>
              <a:t>git </a:t>
            </a:r>
            <a:r>
              <a:rPr lang="tr-TR" sz="6200" b="1" u="sng" dirty="0" err="1">
                <a:solidFill>
                  <a:schemeClr val="tx1"/>
                </a:solidFill>
              </a:rPr>
              <a:t>log</a:t>
            </a:r>
            <a:r>
              <a:rPr lang="tr-TR" sz="6200" b="1" u="sng" dirty="0">
                <a:solidFill>
                  <a:schemeClr val="tx1"/>
                </a:solidFill>
              </a:rPr>
              <a:t> : </a:t>
            </a:r>
            <a:r>
              <a:rPr lang="tr-TR" sz="6200" dirty="0" err="1">
                <a:solidFill>
                  <a:schemeClr val="tx1"/>
                </a:solidFill>
              </a:rPr>
              <a:t>Commit</a:t>
            </a:r>
            <a:r>
              <a:rPr lang="tr-TR" sz="6200" dirty="0">
                <a:solidFill>
                  <a:schemeClr val="tx1"/>
                </a:solidFill>
              </a:rPr>
              <a:t> geçmişini görüntülemek için kullanılır.</a:t>
            </a:r>
          </a:p>
          <a:p>
            <a:endParaRPr lang="tr-TR" sz="2000" dirty="0"/>
          </a:p>
          <a:p>
            <a:endParaRPr lang="tr-TR" dirty="0"/>
          </a:p>
        </p:txBody>
      </p:sp>
      <p:sp>
        <p:nvSpPr>
          <p:cNvPr id="8" name="Dikdörtgen 7">
            <a:extLst>
              <a:ext uri="{FF2B5EF4-FFF2-40B4-BE49-F238E27FC236}">
                <a16:creationId xmlns:a16="http://schemas.microsoft.com/office/drawing/2014/main" id="{DF260643-8050-47E3-8E95-11970A141432}"/>
              </a:ext>
            </a:extLst>
          </p:cNvPr>
          <p:cNvSpPr/>
          <p:nvPr/>
        </p:nvSpPr>
        <p:spPr>
          <a:xfrm>
            <a:off x="6537509" y="2846307"/>
            <a:ext cx="5409782" cy="1938992"/>
          </a:xfrm>
          <a:prstGeom prst="rect">
            <a:avLst/>
          </a:prstGeom>
        </p:spPr>
        <p:txBody>
          <a:bodyPr wrap="square">
            <a:spAutoFit/>
          </a:bodyPr>
          <a:lstStyle/>
          <a:p>
            <a:pPr marL="285750" indent="-285750" algn="just">
              <a:buFont typeface="Arial" panose="020B0604020202020204" pitchFamily="34" charset="0"/>
              <a:buChar char="•"/>
            </a:pPr>
            <a:r>
              <a:rPr lang="tr-TR" sz="2000" b="1" u="sng" dirty="0"/>
              <a:t>git </a:t>
            </a:r>
            <a:r>
              <a:rPr lang="tr-TR" sz="2000" b="1" u="sng" dirty="0" err="1"/>
              <a:t>show</a:t>
            </a:r>
            <a:r>
              <a:rPr lang="tr-TR" sz="2000" b="1" u="sng" dirty="0"/>
              <a:t> : </a:t>
            </a:r>
            <a:r>
              <a:rPr lang="tr-TR" sz="2000" dirty="0"/>
              <a:t>Belirtilen </a:t>
            </a:r>
            <a:r>
              <a:rPr lang="tr-TR" sz="2000" dirty="0" err="1"/>
              <a:t>commit</a:t>
            </a:r>
            <a:r>
              <a:rPr lang="tr-TR" sz="2000" dirty="0"/>
              <a:t> veya objenin detaylarını gösterir.</a:t>
            </a:r>
          </a:p>
          <a:p>
            <a:pPr marL="285750" indent="-285750" algn="just">
              <a:buFont typeface="Arial" panose="020B0604020202020204" pitchFamily="34" charset="0"/>
              <a:buChar char="•"/>
            </a:pPr>
            <a:r>
              <a:rPr lang="tr-TR" sz="2000" b="1" u="sng" dirty="0"/>
              <a:t>git </a:t>
            </a:r>
            <a:r>
              <a:rPr lang="tr-TR" sz="2000" b="1" u="sng" dirty="0" err="1"/>
              <a:t>merge</a:t>
            </a:r>
            <a:r>
              <a:rPr lang="tr-TR" sz="2000" b="1" u="sng" dirty="0"/>
              <a:t> : </a:t>
            </a:r>
            <a:r>
              <a:rPr lang="tr-TR" sz="2000" dirty="0"/>
              <a:t>İki </a:t>
            </a:r>
            <a:r>
              <a:rPr lang="tr-TR" sz="2000" dirty="0" err="1"/>
              <a:t>branch’i</a:t>
            </a:r>
            <a:r>
              <a:rPr lang="tr-TR" sz="2000" dirty="0"/>
              <a:t> birleştirmek için kullanılır</a:t>
            </a:r>
          </a:p>
          <a:p>
            <a:pPr marL="285750" indent="-285750" algn="just">
              <a:buFont typeface="Arial" panose="020B0604020202020204" pitchFamily="34" charset="0"/>
              <a:buChar char="•"/>
            </a:pPr>
            <a:r>
              <a:rPr lang="tr-TR" sz="2000" b="1" u="sng" dirty="0"/>
              <a:t>git </a:t>
            </a:r>
            <a:r>
              <a:rPr lang="tr-TR" sz="2000" b="1" u="sng" dirty="0" err="1"/>
              <a:t>push</a:t>
            </a:r>
            <a:r>
              <a:rPr lang="tr-TR" sz="2000" b="1" u="sng" dirty="0"/>
              <a:t> : </a:t>
            </a:r>
            <a:r>
              <a:rPr lang="tr-TR" sz="2000" dirty="0"/>
              <a:t>Değişiklikleri uzak depoya göndermek için kullanılır. </a:t>
            </a:r>
          </a:p>
        </p:txBody>
      </p:sp>
      <p:sp>
        <p:nvSpPr>
          <p:cNvPr id="9" name="Dikdörtgen 8">
            <a:extLst>
              <a:ext uri="{FF2B5EF4-FFF2-40B4-BE49-F238E27FC236}">
                <a16:creationId xmlns:a16="http://schemas.microsoft.com/office/drawing/2014/main" id="{79E8F5A9-0A61-447A-B55B-020BCB304601}"/>
              </a:ext>
            </a:extLst>
          </p:cNvPr>
          <p:cNvSpPr/>
          <p:nvPr/>
        </p:nvSpPr>
        <p:spPr>
          <a:xfrm>
            <a:off x="433371" y="4077413"/>
            <a:ext cx="5811175" cy="707886"/>
          </a:xfrm>
          <a:prstGeom prst="rect">
            <a:avLst/>
          </a:prstGeom>
        </p:spPr>
        <p:txBody>
          <a:bodyPr wrap="square">
            <a:spAutoFit/>
          </a:bodyPr>
          <a:lstStyle/>
          <a:p>
            <a:pPr marL="342900" indent="-342900" algn="just">
              <a:buFont typeface="Arial" panose="020B0604020202020204" pitchFamily="34" charset="0"/>
              <a:buChar char="•"/>
            </a:pPr>
            <a:r>
              <a:rPr lang="tr-TR" sz="2000" b="1" u="sng" dirty="0"/>
              <a:t>git </a:t>
            </a:r>
            <a:r>
              <a:rPr lang="tr-TR" sz="2000" b="1" u="sng" dirty="0" err="1"/>
              <a:t>pull</a:t>
            </a:r>
            <a:r>
              <a:rPr lang="tr-TR" sz="2000" b="1" u="sng" dirty="0"/>
              <a:t> : </a:t>
            </a:r>
            <a:r>
              <a:rPr lang="tr-TR" sz="2000" dirty="0"/>
              <a:t>Uzak depodaki değişiklikleri yerel depoya çekmek için kullanılır.</a:t>
            </a:r>
          </a:p>
        </p:txBody>
      </p:sp>
      <p:sp>
        <p:nvSpPr>
          <p:cNvPr id="10" name="Dikdörtgen 9">
            <a:extLst>
              <a:ext uri="{FF2B5EF4-FFF2-40B4-BE49-F238E27FC236}">
                <a16:creationId xmlns:a16="http://schemas.microsoft.com/office/drawing/2014/main" id="{27F9CF4E-6D9C-456F-A8F6-F2801CB0D95D}"/>
              </a:ext>
            </a:extLst>
          </p:cNvPr>
          <p:cNvSpPr/>
          <p:nvPr/>
        </p:nvSpPr>
        <p:spPr>
          <a:xfrm>
            <a:off x="6537509" y="577048"/>
            <a:ext cx="5144766" cy="707886"/>
          </a:xfrm>
          <a:prstGeom prst="rect">
            <a:avLst/>
          </a:prstGeom>
        </p:spPr>
        <p:txBody>
          <a:bodyPr wrap="square">
            <a:spAutoFit/>
          </a:bodyPr>
          <a:lstStyle/>
          <a:p>
            <a:pPr marL="285750" indent="-285750" algn="just">
              <a:buFont typeface="Arial" panose="020B0604020202020204" pitchFamily="34" charset="0"/>
              <a:buChar char="•"/>
            </a:pPr>
            <a:r>
              <a:rPr lang="tr-TR" sz="2000" b="1" u="sng" dirty="0"/>
              <a:t>git </a:t>
            </a:r>
            <a:r>
              <a:rPr lang="tr-TR" sz="2000" b="1" u="sng" dirty="0" err="1"/>
              <a:t>commit</a:t>
            </a:r>
            <a:r>
              <a:rPr lang="tr-TR" sz="2000" b="1" u="sng" dirty="0"/>
              <a:t> :</a:t>
            </a:r>
            <a:r>
              <a:rPr lang="tr-TR" sz="2000" b="1" dirty="0"/>
              <a:t> </a:t>
            </a:r>
            <a:r>
              <a:rPr lang="tr-TR" sz="2000" dirty="0"/>
              <a:t>Değişiklikleri kaydetmek için kullanılır.</a:t>
            </a:r>
          </a:p>
        </p:txBody>
      </p:sp>
      <p:pic>
        <p:nvPicPr>
          <p:cNvPr id="12" name="Resim 11">
            <a:extLst>
              <a:ext uri="{FF2B5EF4-FFF2-40B4-BE49-F238E27FC236}">
                <a16:creationId xmlns:a16="http://schemas.microsoft.com/office/drawing/2014/main" id="{D83C3EDA-EAAE-41D1-A540-2A1B4F1DE0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6217" y="2580606"/>
            <a:ext cx="5409782" cy="1344717"/>
          </a:xfrm>
          <a:prstGeom prst="rect">
            <a:avLst/>
          </a:prstGeom>
        </p:spPr>
      </p:pic>
      <p:pic>
        <p:nvPicPr>
          <p:cNvPr id="14" name="Resim 13">
            <a:extLst>
              <a:ext uri="{FF2B5EF4-FFF2-40B4-BE49-F238E27FC236}">
                <a16:creationId xmlns:a16="http://schemas.microsoft.com/office/drawing/2014/main" id="{12081E02-5A28-4B3E-B101-19EE2D2A57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6217" y="4777272"/>
            <a:ext cx="4667017" cy="1694262"/>
          </a:xfrm>
          <a:prstGeom prst="rect">
            <a:avLst/>
          </a:prstGeom>
        </p:spPr>
      </p:pic>
      <p:pic>
        <p:nvPicPr>
          <p:cNvPr id="16" name="Resim 15">
            <a:extLst>
              <a:ext uri="{FF2B5EF4-FFF2-40B4-BE49-F238E27FC236}">
                <a16:creationId xmlns:a16="http://schemas.microsoft.com/office/drawing/2014/main" id="{BB609B14-BDA4-4875-8761-CAC514B189F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13734" y="1284933"/>
            <a:ext cx="4832892" cy="1360611"/>
          </a:xfrm>
          <a:prstGeom prst="rect">
            <a:avLst/>
          </a:prstGeom>
        </p:spPr>
      </p:pic>
      <p:pic>
        <p:nvPicPr>
          <p:cNvPr id="18" name="Resim 17">
            <a:extLst>
              <a:ext uri="{FF2B5EF4-FFF2-40B4-BE49-F238E27FC236}">
                <a16:creationId xmlns:a16="http://schemas.microsoft.com/office/drawing/2014/main" id="{C0BF513A-1514-4833-8AA9-441AA7E54AE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813734" y="4785299"/>
            <a:ext cx="4541302" cy="1813447"/>
          </a:xfrm>
          <a:prstGeom prst="rect">
            <a:avLst/>
          </a:prstGeom>
        </p:spPr>
      </p:pic>
    </p:spTree>
    <p:extLst>
      <p:ext uri="{BB962C8B-B14F-4D97-AF65-F5344CB8AC3E}">
        <p14:creationId xmlns:p14="http://schemas.microsoft.com/office/powerpoint/2010/main" val="34504242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a:extLst>
              <a:ext uri="{FF2B5EF4-FFF2-40B4-BE49-F238E27FC236}">
                <a16:creationId xmlns:a16="http://schemas.microsoft.com/office/drawing/2014/main" id="{A0011268-CBBC-4A8F-AD87-66092D8383B7}"/>
              </a:ext>
            </a:extLst>
          </p:cNvPr>
          <p:cNvSpPr>
            <a:spLocks noGrp="1"/>
          </p:cNvSpPr>
          <p:nvPr>
            <p:ph type="title"/>
          </p:nvPr>
        </p:nvSpPr>
        <p:spPr/>
        <p:txBody>
          <a:bodyPr/>
          <a:lstStyle/>
          <a:p>
            <a:pPr algn="ctr"/>
            <a:r>
              <a:rPr lang="tr-TR" u="sng" dirty="0" err="1">
                <a:solidFill>
                  <a:schemeClr val="tx1"/>
                </a:solidFill>
                <a:effectLst>
                  <a:outerShdw blurRad="38100" dist="38100" dir="2700000" algn="tl">
                    <a:srgbClr val="000000">
                      <a:alpha val="43137"/>
                    </a:srgbClr>
                  </a:outerShdw>
                </a:effectLst>
              </a:rPr>
              <a:t>GitHub</a:t>
            </a:r>
            <a:endParaRPr lang="tr-TR" u="sng" dirty="0">
              <a:solidFill>
                <a:schemeClr val="tx1"/>
              </a:solidFill>
              <a:effectLst>
                <a:outerShdw blurRad="38100" dist="38100" dir="2700000" algn="tl">
                  <a:srgbClr val="000000">
                    <a:alpha val="43137"/>
                  </a:srgbClr>
                </a:outerShdw>
              </a:effectLst>
            </a:endParaRPr>
          </a:p>
        </p:txBody>
      </p:sp>
      <p:sp>
        <p:nvSpPr>
          <p:cNvPr id="3" name="İçerik Yer Tutucusu 2">
            <a:extLst>
              <a:ext uri="{FF2B5EF4-FFF2-40B4-BE49-F238E27FC236}">
                <a16:creationId xmlns:a16="http://schemas.microsoft.com/office/drawing/2014/main" id="{2D28B009-DF26-4B35-A986-24893B3C4238}"/>
              </a:ext>
            </a:extLst>
          </p:cNvPr>
          <p:cNvSpPr>
            <a:spLocks noGrp="1"/>
          </p:cNvSpPr>
          <p:nvPr>
            <p:ph sz="half" idx="2"/>
          </p:nvPr>
        </p:nvSpPr>
        <p:spPr>
          <a:xfrm>
            <a:off x="738956" y="1888530"/>
            <a:ext cx="10855279" cy="3684588"/>
          </a:xfrm>
        </p:spPr>
        <p:txBody>
          <a:bodyPr>
            <a:normAutofit/>
          </a:bodyPr>
          <a:lstStyle/>
          <a:p>
            <a:pPr marL="0" indent="0" algn="just">
              <a:buNone/>
            </a:pPr>
            <a:r>
              <a:rPr lang="tr-TR" sz="2000" dirty="0">
                <a:solidFill>
                  <a:schemeClr val="tx1"/>
                </a:solidFill>
              </a:rPr>
              <a:t>	</a:t>
            </a:r>
            <a:r>
              <a:rPr lang="tr-TR" sz="2000" dirty="0" err="1">
                <a:solidFill>
                  <a:schemeClr val="tx1"/>
                </a:solidFill>
              </a:rPr>
              <a:t>GitHub</a:t>
            </a:r>
            <a:r>
              <a:rPr lang="tr-TR" sz="2000" dirty="0">
                <a:solidFill>
                  <a:schemeClr val="tx1"/>
                </a:solidFill>
              </a:rPr>
              <a:t>, bulut tabanlı bir Git deposu barındırma hizmeti sunan bir şirkettir. Temel olarak, bireylerin ve ekiplerin Git'i sürüm kontrolü ve işbirliği için kullanmasını çok daha kolay hale getirir. 2008 yılında piyasaya sürülmüştür. </a:t>
            </a:r>
          </a:p>
          <a:p>
            <a:pPr marL="0" indent="0" algn="just">
              <a:buNone/>
            </a:pPr>
            <a:r>
              <a:rPr lang="tr-TR" sz="2000" dirty="0">
                <a:solidFill>
                  <a:schemeClr val="tx1"/>
                </a:solidFill>
              </a:rPr>
              <a:t>	</a:t>
            </a:r>
            <a:r>
              <a:rPr lang="tr-TR" sz="2000" dirty="0" err="1">
                <a:solidFill>
                  <a:schemeClr val="tx1"/>
                </a:solidFill>
              </a:rPr>
              <a:t>GitHub'ın</a:t>
            </a:r>
            <a:r>
              <a:rPr lang="tr-TR" sz="2000" dirty="0">
                <a:solidFill>
                  <a:schemeClr val="tx1"/>
                </a:solidFill>
              </a:rPr>
              <a:t> </a:t>
            </a:r>
            <a:r>
              <a:rPr lang="tr-TR" sz="2000" dirty="0" err="1">
                <a:solidFill>
                  <a:schemeClr val="tx1"/>
                </a:solidFill>
              </a:rPr>
              <a:t>arayüzü</a:t>
            </a:r>
            <a:r>
              <a:rPr lang="tr-TR" sz="2000" dirty="0">
                <a:solidFill>
                  <a:schemeClr val="tx1"/>
                </a:solidFill>
              </a:rPr>
              <a:t> oldukça kullanıcı dostudur, böylece acemi </a:t>
            </a:r>
            <a:r>
              <a:rPr lang="tr-TR" sz="2000" dirty="0" err="1">
                <a:solidFill>
                  <a:schemeClr val="tx1"/>
                </a:solidFill>
              </a:rPr>
              <a:t>kodlayıcılar</a:t>
            </a:r>
            <a:r>
              <a:rPr lang="tr-TR" sz="2000" dirty="0">
                <a:solidFill>
                  <a:schemeClr val="tx1"/>
                </a:solidFill>
              </a:rPr>
              <a:t> bile </a:t>
            </a:r>
            <a:r>
              <a:rPr lang="tr-TR" sz="2000" dirty="0" err="1">
                <a:solidFill>
                  <a:schemeClr val="tx1"/>
                </a:solidFill>
              </a:rPr>
              <a:t>Git'ten</a:t>
            </a:r>
            <a:r>
              <a:rPr lang="tr-TR" sz="2000" dirty="0">
                <a:solidFill>
                  <a:schemeClr val="tx1"/>
                </a:solidFill>
              </a:rPr>
              <a:t> yararlanabilir. </a:t>
            </a:r>
            <a:r>
              <a:rPr lang="tr-TR" sz="2000" dirty="0" err="1">
                <a:solidFill>
                  <a:schemeClr val="tx1"/>
                </a:solidFill>
              </a:rPr>
              <a:t>GitHub</a:t>
            </a:r>
            <a:r>
              <a:rPr lang="tr-TR" sz="2000" dirty="0">
                <a:solidFill>
                  <a:schemeClr val="tx1"/>
                </a:solidFill>
              </a:rPr>
              <a:t> olmadan Git'i kullanmak genellikle biraz daha teknik bilgi gerektirir. </a:t>
            </a:r>
          </a:p>
          <a:p>
            <a:pPr marL="0" indent="0" algn="just">
              <a:buNone/>
            </a:pPr>
            <a:r>
              <a:rPr lang="tr-TR" sz="2000" dirty="0">
                <a:solidFill>
                  <a:schemeClr val="tx1"/>
                </a:solidFill>
              </a:rPr>
              <a:t>	Ek olarak, herkes ücretsiz olarak bir ortak kod deposuna kaydolabilir ve kodlarını orada barındırabilir; bu durum da </a:t>
            </a:r>
            <a:r>
              <a:rPr lang="tr-TR" sz="2000" dirty="0" err="1">
                <a:solidFill>
                  <a:schemeClr val="tx1"/>
                </a:solidFill>
              </a:rPr>
              <a:t>GitHub'ı</a:t>
            </a:r>
            <a:r>
              <a:rPr lang="tr-TR" sz="2000" dirty="0">
                <a:solidFill>
                  <a:schemeClr val="tx1"/>
                </a:solidFill>
              </a:rPr>
              <a:t> özellikle açık kaynaklı projelerde popüler hale getirmektedir.</a:t>
            </a:r>
          </a:p>
        </p:txBody>
      </p:sp>
      <p:pic>
        <p:nvPicPr>
          <p:cNvPr id="5" name="Resim 4">
            <a:extLst>
              <a:ext uri="{FF2B5EF4-FFF2-40B4-BE49-F238E27FC236}">
                <a16:creationId xmlns:a16="http://schemas.microsoft.com/office/drawing/2014/main" id="{25B40E97-B60C-42CC-A9D3-B6AF8A3A5F66}"/>
              </a:ext>
            </a:extLst>
          </p:cNvPr>
          <p:cNvPicPr>
            <a:picLocks noChangeAspect="1"/>
          </p:cNvPicPr>
          <p:nvPr/>
        </p:nvPicPr>
        <p:blipFill>
          <a:blip r:embed="rId2"/>
          <a:stretch>
            <a:fillRect/>
          </a:stretch>
        </p:blipFill>
        <p:spPr>
          <a:xfrm>
            <a:off x="2719525" y="4015666"/>
            <a:ext cx="6078245" cy="2227137"/>
          </a:xfrm>
          <a:prstGeom prst="rect">
            <a:avLst/>
          </a:prstGeom>
        </p:spPr>
      </p:pic>
    </p:spTree>
    <p:extLst>
      <p:ext uri="{BB962C8B-B14F-4D97-AF65-F5344CB8AC3E}">
        <p14:creationId xmlns:p14="http://schemas.microsoft.com/office/powerpoint/2010/main" val="16700533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a:extLst>
              <a:ext uri="{FF2B5EF4-FFF2-40B4-BE49-F238E27FC236}">
                <a16:creationId xmlns:a16="http://schemas.microsoft.com/office/drawing/2014/main" id="{0DDE6DAE-DE5E-4B9C-97B4-53EF7E134026}"/>
              </a:ext>
            </a:extLst>
          </p:cNvPr>
          <p:cNvSpPr>
            <a:spLocks noGrp="1"/>
          </p:cNvSpPr>
          <p:nvPr>
            <p:ph type="title"/>
          </p:nvPr>
        </p:nvSpPr>
        <p:spPr>
          <a:xfrm>
            <a:off x="688866" y="4270210"/>
            <a:ext cx="10666521" cy="1135932"/>
          </a:xfrm>
        </p:spPr>
        <p:txBody>
          <a:bodyPr>
            <a:normAutofit/>
          </a:bodyPr>
          <a:lstStyle/>
          <a:p>
            <a:pPr algn="ctr"/>
            <a:r>
              <a:rPr lang="tr-TR" u="sng" dirty="0" err="1">
                <a:solidFill>
                  <a:schemeClr val="tx1"/>
                </a:solidFill>
                <a:effectLst>
                  <a:outerShdw blurRad="38100" dist="38100" dir="2700000" algn="tl">
                    <a:srgbClr val="000000">
                      <a:alpha val="43137"/>
                    </a:srgbClr>
                  </a:outerShdw>
                </a:effectLst>
              </a:rPr>
              <a:t>GitHub</a:t>
            </a:r>
            <a:r>
              <a:rPr lang="tr-TR" u="sng" dirty="0">
                <a:solidFill>
                  <a:schemeClr val="tx1"/>
                </a:solidFill>
                <a:effectLst>
                  <a:outerShdw blurRad="38100" dist="38100" dir="2700000" algn="tl">
                    <a:srgbClr val="000000">
                      <a:alpha val="43137"/>
                    </a:srgbClr>
                  </a:outerShdw>
                </a:effectLst>
              </a:rPr>
              <a:t> Nasıl Kullanılır?</a:t>
            </a:r>
          </a:p>
        </p:txBody>
      </p:sp>
      <p:sp>
        <p:nvSpPr>
          <p:cNvPr id="3" name="İçerik Yer Tutucusu 2">
            <a:extLst>
              <a:ext uri="{FF2B5EF4-FFF2-40B4-BE49-F238E27FC236}">
                <a16:creationId xmlns:a16="http://schemas.microsoft.com/office/drawing/2014/main" id="{54B76F07-5624-43C4-BC9F-EE3969A0C631}"/>
              </a:ext>
            </a:extLst>
          </p:cNvPr>
          <p:cNvSpPr>
            <a:spLocks noGrp="1"/>
          </p:cNvSpPr>
          <p:nvPr>
            <p:ph sz="half" idx="2"/>
          </p:nvPr>
        </p:nvSpPr>
        <p:spPr>
          <a:xfrm>
            <a:off x="797164" y="5388197"/>
            <a:ext cx="10558224" cy="835050"/>
          </a:xfrm>
        </p:spPr>
        <p:txBody>
          <a:bodyPr>
            <a:normAutofit fontScale="40000" lnSpcReduction="20000"/>
          </a:bodyPr>
          <a:lstStyle/>
          <a:p>
            <a:pPr marL="0" indent="0" algn="just">
              <a:buNone/>
            </a:pPr>
            <a:r>
              <a:rPr lang="tr-TR" sz="5900" dirty="0">
                <a:solidFill>
                  <a:schemeClr val="tx1"/>
                </a:solidFill>
              </a:rPr>
              <a:t>	</a:t>
            </a:r>
            <a:r>
              <a:rPr lang="tr-TR" sz="5000" dirty="0">
                <a:solidFill>
                  <a:schemeClr val="tx1"/>
                </a:solidFill>
              </a:rPr>
              <a:t>Öncelikle, </a:t>
            </a:r>
            <a:r>
              <a:rPr lang="tr-TR" sz="5000" dirty="0" err="1">
                <a:solidFill>
                  <a:schemeClr val="tx1"/>
                </a:solidFill>
              </a:rPr>
              <a:t>Github’ın</a:t>
            </a:r>
            <a:r>
              <a:rPr lang="tr-TR" sz="5000" dirty="0">
                <a:solidFill>
                  <a:schemeClr val="tx1"/>
                </a:solidFill>
              </a:rPr>
              <a:t> resmi internet sitesi üzerinden kayıt işlemi tamamlandıktan sonra, projelerinizi barındırabileceğiniz ve yönetebileceğiniz kendi profilinize sahip olacaksınız.</a:t>
            </a:r>
            <a:endParaRPr lang="tr-TR" sz="2900" dirty="0">
              <a:solidFill>
                <a:schemeClr val="tx1"/>
              </a:solidFill>
            </a:endParaRPr>
          </a:p>
          <a:p>
            <a:pPr marL="0" indent="0">
              <a:buNone/>
            </a:pPr>
            <a:r>
              <a:rPr lang="tr-TR" sz="2000" dirty="0"/>
              <a:t>	</a:t>
            </a:r>
          </a:p>
          <a:p>
            <a:pPr marL="0" indent="0">
              <a:buNone/>
            </a:pPr>
            <a:endParaRPr lang="tr-TR" sz="2000" dirty="0"/>
          </a:p>
          <a:p>
            <a:pPr marL="0" indent="0">
              <a:buNone/>
            </a:pPr>
            <a:endParaRPr lang="tr-TR" sz="2000" dirty="0"/>
          </a:p>
          <a:p>
            <a:pPr marL="0" indent="0">
              <a:buNone/>
            </a:pPr>
            <a:endParaRPr lang="tr-TR" sz="2400" dirty="0"/>
          </a:p>
          <a:p>
            <a:pPr marL="0" indent="0">
              <a:buNone/>
            </a:pPr>
            <a:endParaRPr lang="tr-TR" dirty="0"/>
          </a:p>
          <a:p>
            <a:endParaRPr lang="tr-TR" dirty="0"/>
          </a:p>
        </p:txBody>
      </p:sp>
      <p:sp>
        <p:nvSpPr>
          <p:cNvPr id="17" name="İçerik Yer Tutucusu 16">
            <a:extLst>
              <a:ext uri="{FF2B5EF4-FFF2-40B4-BE49-F238E27FC236}">
                <a16:creationId xmlns:a16="http://schemas.microsoft.com/office/drawing/2014/main" id="{5EB2AE16-E62D-4440-AB7D-23769CE43F83}"/>
              </a:ext>
            </a:extLst>
          </p:cNvPr>
          <p:cNvSpPr>
            <a:spLocks noGrp="1"/>
          </p:cNvSpPr>
          <p:nvPr>
            <p:ph sz="quarter" idx="4"/>
          </p:nvPr>
        </p:nvSpPr>
        <p:spPr>
          <a:xfrm>
            <a:off x="797164" y="1451859"/>
            <a:ext cx="10823706" cy="649130"/>
          </a:xfrm>
        </p:spPr>
        <p:txBody>
          <a:bodyPr>
            <a:noAutofit/>
          </a:bodyPr>
          <a:lstStyle/>
          <a:p>
            <a:pPr marL="0" indent="0" algn="just">
              <a:buNone/>
            </a:pPr>
            <a:r>
              <a:rPr lang="tr-TR" sz="2000" dirty="0"/>
              <a:t>	</a:t>
            </a:r>
            <a:r>
              <a:rPr lang="tr-TR" sz="2000" dirty="0">
                <a:solidFill>
                  <a:schemeClr val="tx1"/>
                </a:solidFill>
                <a:hlinkClick r:id="rId2">
                  <a:extLst>
                    <a:ext uri="{A12FA001-AC4F-418D-AE19-62706E023703}">
                      <ahyp:hlinkClr xmlns:ahyp="http://schemas.microsoft.com/office/drawing/2018/hyperlinkcolor" val="tx"/>
                    </a:ext>
                  </a:extLst>
                </a:hlinkClick>
              </a:rPr>
              <a:t>github.com/ </a:t>
            </a:r>
            <a:r>
              <a:rPr lang="tr-TR" sz="2000" dirty="0">
                <a:solidFill>
                  <a:schemeClr val="tx1"/>
                </a:solidFill>
              </a:rPr>
              <a:t>sitesinden "</a:t>
            </a:r>
            <a:r>
              <a:rPr lang="tr-TR" sz="2000" dirty="0" err="1">
                <a:solidFill>
                  <a:schemeClr val="tx1"/>
                </a:solidFill>
              </a:rPr>
              <a:t>sign</a:t>
            </a:r>
            <a:r>
              <a:rPr lang="tr-TR" sz="2000" dirty="0">
                <a:solidFill>
                  <a:schemeClr val="tx1"/>
                </a:solidFill>
              </a:rPr>
              <a:t> </a:t>
            </a:r>
            <a:r>
              <a:rPr lang="tr-TR" sz="2000" dirty="0" err="1">
                <a:solidFill>
                  <a:schemeClr val="tx1"/>
                </a:solidFill>
              </a:rPr>
              <a:t>up</a:t>
            </a:r>
            <a:r>
              <a:rPr lang="tr-TR" sz="2000" dirty="0">
                <a:solidFill>
                  <a:schemeClr val="tx1"/>
                </a:solidFill>
              </a:rPr>
              <a:t>" a basıp kayıt oluyoruz. </a:t>
            </a:r>
            <a:r>
              <a:rPr lang="tr-TR" sz="2000" dirty="0" err="1">
                <a:solidFill>
                  <a:schemeClr val="tx1"/>
                </a:solidFill>
              </a:rPr>
              <a:t>GitHub</a:t>
            </a:r>
            <a:r>
              <a:rPr lang="tr-TR" sz="2000" dirty="0">
                <a:solidFill>
                  <a:schemeClr val="tx1"/>
                </a:solidFill>
              </a:rPr>
              <a:t> bir web sitesi olduğu için herhangi bir kuruluma ihtiyaç duymaz.</a:t>
            </a:r>
          </a:p>
        </p:txBody>
      </p:sp>
      <p:sp>
        <p:nvSpPr>
          <p:cNvPr id="10" name="Metin Yer Tutucusu 7">
            <a:extLst>
              <a:ext uri="{FF2B5EF4-FFF2-40B4-BE49-F238E27FC236}">
                <a16:creationId xmlns:a16="http://schemas.microsoft.com/office/drawing/2014/main" id="{1183DADD-49EE-4595-99F8-3F3025EDB5EB}"/>
              </a:ext>
            </a:extLst>
          </p:cNvPr>
          <p:cNvSpPr txBox="1">
            <a:spLocks/>
          </p:cNvSpPr>
          <p:nvPr/>
        </p:nvSpPr>
        <p:spPr>
          <a:xfrm>
            <a:off x="797164" y="715338"/>
            <a:ext cx="10597672" cy="82391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tr-TR" sz="4400" u="sng" dirty="0" err="1">
                <a:effectLst>
                  <a:outerShdw blurRad="38100" dist="38100" dir="2700000" algn="tl">
                    <a:srgbClr val="000000">
                      <a:alpha val="43137"/>
                    </a:srgbClr>
                  </a:outerShdw>
                </a:effectLst>
                <a:latin typeface="+mj-lt"/>
                <a:cs typeface="Calibri" panose="020F0502020204030204" pitchFamily="34" charset="0"/>
              </a:rPr>
              <a:t>GitHub</a:t>
            </a:r>
            <a:r>
              <a:rPr lang="tr-TR" sz="4400" u="sng" dirty="0">
                <a:effectLst>
                  <a:outerShdw blurRad="38100" dist="38100" dir="2700000" algn="tl">
                    <a:srgbClr val="000000">
                      <a:alpha val="43137"/>
                    </a:srgbClr>
                  </a:outerShdw>
                </a:effectLst>
                <a:latin typeface="+mj-lt"/>
                <a:cs typeface="Calibri" panose="020F0502020204030204" pitchFamily="34" charset="0"/>
              </a:rPr>
              <a:t> Kurulumu</a:t>
            </a:r>
          </a:p>
        </p:txBody>
      </p:sp>
      <p:pic>
        <p:nvPicPr>
          <p:cNvPr id="12" name="Resim 11">
            <a:extLst>
              <a:ext uri="{FF2B5EF4-FFF2-40B4-BE49-F238E27FC236}">
                <a16:creationId xmlns:a16="http://schemas.microsoft.com/office/drawing/2014/main" id="{23FACDA0-AF19-455D-B0F1-62A6FF465C24}"/>
              </a:ext>
            </a:extLst>
          </p:cNvPr>
          <p:cNvPicPr>
            <a:picLocks noChangeAspect="1"/>
          </p:cNvPicPr>
          <p:nvPr/>
        </p:nvPicPr>
        <p:blipFill>
          <a:blip r:embed="rId3"/>
          <a:stretch>
            <a:fillRect/>
          </a:stretch>
        </p:blipFill>
        <p:spPr>
          <a:xfrm>
            <a:off x="2458228" y="2100989"/>
            <a:ext cx="6654262" cy="2131641"/>
          </a:xfrm>
          <a:prstGeom prst="rect">
            <a:avLst/>
          </a:prstGeom>
        </p:spPr>
      </p:pic>
      <p:sp>
        <p:nvSpPr>
          <p:cNvPr id="13" name="Oval 12">
            <a:extLst>
              <a:ext uri="{FF2B5EF4-FFF2-40B4-BE49-F238E27FC236}">
                <a16:creationId xmlns:a16="http://schemas.microsoft.com/office/drawing/2014/main" id="{0CE763FC-C677-4896-8EC3-53B5389FD179}"/>
              </a:ext>
            </a:extLst>
          </p:cNvPr>
          <p:cNvSpPr/>
          <p:nvPr/>
        </p:nvSpPr>
        <p:spPr>
          <a:xfrm>
            <a:off x="8495929" y="2063410"/>
            <a:ext cx="727968" cy="428644"/>
          </a:xfrm>
          <a:prstGeom prst="ellipse">
            <a:avLst/>
          </a:prstGeom>
          <a:noFill/>
          <a:ln w="571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tr-TR" dirty="0"/>
          </a:p>
        </p:txBody>
      </p:sp>
    </p:spTree>
    <p:extLst>
      <p:ext uri="{BB962C8B-B14F-4D97-AF65-F5344CB8AC3E}">
        <p14:creationId xmlns:p14="http://schemas.microsoft.com/office/powerpoint/2010/main" val="41564931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ikdörtgen 2">
            <a:extLst>
              <a:ext uri="{FF2B5EF4-FFF2-40B4-BE49-F238E27FC236}">
                <a16:creationId xmlns:a16="http://schemas.microsoft.com/office/drawing/2014/main" id="{BED4D3AA-FF19-422C-BFF9-A9140FC0DE7A}"/>
              </a:ext>
            </a:extLst>
          </p:cNvPr>
          <p:cNvSpPr/>
          <p:nvPr/>
        </p:nvSpPr>
        <p:spPr>
          <a:xfrm>
            <a:off x="358064" y="4802907"/>
            <a:ext cx="7862657" cy="1631216"/>
          </a:xfrm>
          <a:prstGeom prst="rect">
            <a:avLst/>
          </a:prstGeom>
        </p:spPr>
        <p:txBody>
          <a:bodyPr wrap="square">
            <a:spAutoFit/>
          </a:bodyPr>
          <a:lstStyle/>
          <a:p>
            <a:r>
              <a:rPr lang="tr-TR" sz="2000" dirty="0"/>
              <a:t>	</a:t>
            </a:r>
            <a:r>
              <a:rPr lang="tr-TR" sz="2000" b="1" u="sng" dirty="0"/>
              <a:t>2.Git Kullanarak Depoya Bağlanma</a:t>
            </a:r>
          </a:p>
          <a:p>
            <a:pPr algn="just"/>
            <a:r>
              <a:rPr lang="tr-TR" sz="2000" dirty="0"/>
              <a:t>Bilgisayarınızda terminal veya komut satırını açarak aşağıdaki komutları kullanarak projeyi yerel makinenize klonlayabilirsiniz.</a:t>
            </a:r>
          </a:p>
          <a:p>
            <a:pPr algn="just"/>
            <a:r>
              <a:rPr lang="tr-TR" sz="2000" dirty="0"/>
              <a:t>Bu komut, projeyi bilgisayarınıza indirecek ve üzerinde çalışmanıza imkan tanıyacaktır.</a:t>
            </a:r>
          </a:p>
        </p:txBody>
      </p:sp>
      <p:pic>
        <p:nvPicPr>
          <p:cNvPr id="10" name="Resim 9">
            <a:extLst>
              <a:ext uri="{FF2B5EF4-FFF2-40B4-BE49-F238E27FC236}">
                <a16:creationId xmlns:a16="http://schemas.microsoft.com/office/drawing/2014/main" id="{360CB567-7C20-4686-9A05-508EB4FC45C9}"/>
              </a:ext>
            </a:extLst>
          </p:cNvPr>
          <p:cNvPicPr>
            <a:picLocks noChangeAspect="1"/>
          </p:cNvPicPr>
          <p:nvPr/>
        </p:nvPicPr>
        <p:blipFill rotWithShape="1">
          <a:blip r:embed="rId2"/>
          <a:srcRect l="58353" t="44075"/>
          <a:stretch/>
        </p:blipFill>
        <p:spPr>
          <a:xfrm>
            <a:off x="8646849" y="4050870"/>
            <a:ext cx="2920996" cy="2575531"/>
          </a:xfrm>
          <a:prstGeom prst="rect">
            <a:avLst/>
          </a:prstGeom>
        </p:spPr>
      </p:pic>
      <p:sp>
        <p:nvSpPr>
          <p:cNvPr id="14" name="Dikdörtgen 13">
            <a:extLst>
              <a:ext uri="{FF2B5EF4-FFF2-40B4-BE49-F238E27FC236}">
                <a16:creationId xmlns:a16="http://schemas.microsoft.com/office/drawing/2014/main" id="{909A8711-BB3D-467D-AEA6-487AA552435B}"/>
              </a:ext>
            </a:extLst>
          </p:cNvPr>
          <p:cNvSpPr/>
          <p:nvPr/>
        </p:nvSpPr>
        <p:spPr>
          <a:xfrm>
            <a:off x="5311804" y="376318"/>
            <a:ext cx="6664173" cy="1631216"/>
          </a:xfrm>
          <a:prstGeom prst="rect">
            <a:avLst/>
          </a:prstGeom>
        </p:spPr>
        <p:txBody>
          <a:bodyPr wrap="square">
            <a:spAutoFit/>
          </a:bodyPr>
          <a:lstStyle/>
          <a:p>
            <a:r>
              <a:rPr lang="tr-TR" sz="2000" dirty="0"/>
              <a:t>	</a:t>
            </a:r>
            <a:r>
              <a:rPr lang="tr-TR" sz="2000" b="1" u="sng" dirty="0"/>
              <a:t>1.Depo (</a:t>
            </a:r>
            <a:r>
              <a:rPr lang="tr-TR" sz="2000" b="1" u="sng" dirty="0" err="1"/>
              <a:t>Repository</a:t>
            </a:r>
            <a:r>
              <a:rPr lang="tr-TR" sz="2000" b="1" u="sng" dirty="0"/>
              <a:t>) Oluşturma</a:t>
            </a:r>
          </a:p>
          <a:p>
            <a:pPr algn="just"/>
            <a:r>
              <a:rPr lang="tr-TR" sz="2000" dirty="0"/>
              <a:t>Yeni bir proje oluşturmak için "New </a:t>
            </a:r>
            <a:r>
              <a:rPr lang="tr-TR" sz="2000" dirty="0" err="1"/>
              <a:t>Repository</a:t>
            </a:r>
            <a:r>
              <a:rPr lang="tr-TR" sz="2000" dirty="0"/>
              <a:t>" seçeneğine tıklayın. Bu depoya, projenizin adını ve açıklamasını girerek başlamalısınız. İsterseniz projeyi halka açık (</a:t>
            </a:r>
            <a:r>
              <a:rPr lang="tr-TR" sz="2000" dirty="0" err="1"/>
              <a:t>public</a:t>
            </a:r>
            <a:r>
              <a:rPr lang="tr-TR" sz="2000" dirty="0"/>
              <a:t>) veya özel (</a:t>
            </a:r>
            <a:r>
              <a:rPr lang="tr-TR" sz="2000" dirty="0" err="1"/>
              <a:t>private</a:t>
            </a:r>
            <a:r>
              <a:rPr lang="tr-TR" sz="2000" dirty="0"/>
              <a:t>) yapabilirsiniz.</a:t>
            </a:r>
          </a:p>
        </p:txBody>
      </p:sp>
      <p:pic>
        <p:nvPicPr>
          <p:cNvPr id="15" name="Resim 14">
            <a:extLst>
              <a:ext uri="{FF2B5EF4-FFF2-40B4-BE49-F238E27FC236}">
                <a16:creationId xmlns:a16="http://schemas.microsoft.com/office/drawing/2014/main" id="{E4D6F00F-4E7D-4534-B541-BD1BB0460CC2}"/>
              </a:ext>
            </a:extLst>
          </p:cNvPr>
          <p:cNvPicPr>
            <a:picLocks noChangeAspect="1"/>
          </p:cNvPicPr>
          <p:nvPr/>
        </p:nvPicPr>
        <p:blipFill>
          <a:blip r:embed="rId3"/>
          <a:stretch>
            <a:fillRect/>
          </a:stretch>
        </p:blipFill>
        <p:spPr>
          <a:xfrm>
            <a:off x="5311804" y="2055093"/>
            <a:ext cx="6437934" cy="1841152"/>
          </a:xfrm>
          <a:prstGeom prst="rect">
            <a:avLst/>
          </a:prstGeom>
        </p:spPr>
      </p:pic>
      <p:pic>
        <p:nvPicPr>
          <p:cNvPr id="16" name="Resim 15">
            <a:extLst>
              <a:ext uri="{FF2B5EF4-FFF2-40B4-BE49-F238E27FC236}">
                <a16:creationId xmlns:a16="http://schemas.microsoft.com/office/drawing/2014/main" id="{92C68985-58C2-4D63-B6A3-295BD4A11500}"/>
              </a:ext>
            </a:extLst>
          </p:cNvPr>
          <p:cNvPicPr>
            <a:picLocks noChangeAspect="1"/>
          </p:cNvPicPr>
          <p:nvPr/>
        </p:nvPicPr>
        <p:blipFill>
          <a:blip r:embed="rId4"/>
          <a:stretch>
            <a:fillRect/>
          </a:stretch>
        </p:blipFill>
        <p:spPr>
          <a:xfrm>
            <a:off x="529699" y="259639"/>
            <a:ext cx="4252405" cy="4543268"/>
          </a:xfrm>
          <a:prstGeom prst="rect">
            <a:avLst/>
          </a:prstGeom>
        </p:spPr>
      </p:pic>
      <p:sp>
        <p:nvSpPr>
          <p:cNvPr id="17" name="Oval 16">
            <a:extLst>
              <a:ext uri="{FF2B5EF4-FFF2-40B4-BE49-F238E27FC236}">
                <a16:creationId xmlns:a16="http://schemas.microsoft.com/office/drawing/2014/main" id="{2C090B8C-DDE3-480B-8568-DEB1648BCF87}"/>
              </a:ext>
            </a:extLst>
          </p:cNvPr>
          <p:cNvSpPr/>
          <p:nvPr/>
        </p:nvSpPr>
        <p:spPr>
          <a:xfrm>
            <a:off x="3766396" y="4423563"/>
            <a:ext cx="1015708" cy="379344"/>
          </a:xfrm>
          <a:prstGeom prst="ellipse">
            <a:avLst/>
          </a:prstGeom>
          <a:noFill/>
          <a:ln w="571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tr-TR"/>
          </a:p>
        </p:txBody>
      </p:sp>
      <p:sp>
        <p:nvSpPr>
          <p:cNvPr id="18" name="Oval 17">
            <a:extLst>
              <a:ext uri="{FF2B5EF4-FFF2-40B4-BE49-F238E27FC236}">
                <a16:creationId xmlns:a16="http://schemas.microsoft.com/office/drawing/2014/main" id="{866BCC21-F8E1-44CF-806A-F2228E4A9836}"/>
              </a:ext>
            </a:extLst>
          </p:cNvPr>
          <p:cNvSpPr/>
          <p:nvPr/>
        </p:nvSpPr>
        <p:spPr>
          <a:xfrm>
            <a:off x="5730189" y="2236171"/>
            <a:ext cx="731621" cy="379344"/>
          </a:xfrm>
          <a:prstGeom prst="ellipse">
            <a:avLst/>
          </a:prstGeom>
          <a:noFill/>
          <a:ln w="571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tr-TR"/>
          </a:p>
        </p:txBody>
      </p:sp>
      <p:sp>
        <p:nvSpPr>
          <p:cNvPr id="19" name="Oval 18">
            <a:extLst>
              <a:ext uri="{FF2B5EF4-FFF2-40B4-BE49-F238E27FC236}">
                <a16:creationId xmlns:a16="http://schemas.microsoft.com/office/drawing/2014/main" id="{D74DAA3E-42D1-4A72-A373-539D065528D3}"/>
              </a:ext>
            </a:extLst>
          </p:cNvPr>
          <p:cNvSpPr/>
          <p:nvPr/>
        </p:nvSpPr>
        <p:spPr>
          <a:xfrm>
            <a:off x="10572612" y="2451207"/>
            <a:ext cx="731621" cy="379344"/>
          </a:xfrm>
          <a:prstGeom prst="ellipse">
            <a:avLst/>
          </a:prstGeom>
          <a:noFill/>
          <a:ln w="571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tr-TR"/>
          </a:p>
        </p:txBody>
      </p:sp>
      <p:sp>
        <p:nvSpPr>
          <p:cNvPr id="20" name="Oval 19">
            <a:extLst>
              <a:ext uri="{FF2B5EF4-FFF2-40B4-BE49-F238E27FC236}">
                <a16:creationId xmlns:a16="http://schemas.microsoft.com/office/drawing/2014/main" id="{D0B197BF-919D-4025-8CDA-DAC156084F3E}"/>
              </a:ext>
            </a:extLst>
          </p:cNvPr>
          <p:cNvSpPr/>
          <p:nvPr/>
        </p:nvSpPr>
        <p:spPr>
          <a:xfrm>
            <a:off x="8817553" y="5024489"/>
            <a:ext cx="1897102" cy="655120"/>
          </a:xfrm>
          <a:prstGeom prst="ellipse">
            <a:avLst/>
          </a:prstGeom>
          <a:noFill/>
          <a:ln w="571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tr-TR"/>
          </a:p>
        </p:txBody>
      </p:sp>
      <p:sp>
        <p:nvSpPr>
          <p:cNvPr id="21" name="Oval 20">
            <a:extLst>
              <a:ext uri="{FF2B5EF4-FFF2-40B4-BE49-F238E27FC236}">
                <a16:creationId xmlns:a16="http://schemas.microsoft.com/office/drawing/2014/main" id="{CD1B62CA-257B-4B0B-A7E5-4A40D1022E71}"/>
              </a:ext>
            </a:extLst>
          </p:cNvPr>
          <p:cNvSpPr/>
          <p:nvPr/>
        </p:nvSpPr>
        <p:spPr>
          <a:xfrm>
            <a:off x="10714655" y="4027843"/>
            <a:ext cx="947646" cy="461506"/>
          </a:xfrm>
          <a:prstGeom prst="ellipse">
            <a:avLst/>
          </a:prstGeom>
          <a:noFill/>
          <a:ln w="571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tr-TR"/>
          </a:p>
        </p:txBody>
      </p:sp>
      <p:cxnSp>
        <p:nvCxnSpPr>
          <p:cNvPr id="23" name="Düz Ok Bağlayıcısı 22">
            <a:extLst>
              <a:ext uri="{FF2B5EF4-FFF2-40B4-BE49-F238E27FC236}">
                <a16:creationId xmlns:a16="http://schemas.microsoft.com/office/drawing/2014/main" id="{0F17CCF0-C72C-4988-9E5D-439941F1C2D0}"/>
              </a:ext>
            </a:extLst>
          </p:cNvPr>
          <p:cNvCxnSpPr>
            <a:cxnSpLocks/>
          </p:cNvCxnSpPr>
          <p:nvPr/>
        </p:nvCxnSpPr>
        <p:spPr>
          <a:xfrm>
            <a:off x="8149701" y="5772727"/>
            <a:ext cx="606399"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Düz Ok Bağlayıcısı 25">
            <a:extLst>
              <a:ext uri="{FF2B5EF4-FFF2-40B4-BE49-F238E27FC236}">
                <a16:creationId xmlns:a16="http://schemas.microsoft.com/office/drawing/2014/main" id="{C77E9B3B-1929-4E67-B2F8-B0F90AD57DE9}"/>
              </a:ext>
            </a:extLst>
          </p:cNvPr>
          <p:cNvCxnSpPr>
            <a:cxnSpLocks/>
          </p:cNvCxnSpPr>
          <p:nvPr/>
        </p:nvCxnSpPr>
        <p:spPr>
          <a:xfrm>
            <a:off x="8149701" y="1775534"/>
            <a:ext cx="0" cy="460637"/>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Düz Ok Bağlayıcısı 26">
            <a:extLst>
              <a:ext uri="{FF2B5EF4-FFF2-40B4-BE49-F238E27FC236}">
                <a16:creationId xmlns:a16="http://schemas.microsoft.com/office/drawing/2014/main" id="{942DD8E2-5013-4CCB-9D6D-A0FAFA898C0A}"/>
              </a:ext>
            </a:extLst>
          </p:cNvPr>
          <p:cNvCxnSpPr>
            <a:cxnSpLocks/>
          </p:cNvCxnSpPr>
          <p:nvPr/>
        </p:nvCxnSpPr>
        <p:spPr>
          <a:xfrm flipH="1">
            <a:off x="4572000" y="3128661"/>
            <a:ext cx="807868"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145012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B48D63A8-4C53-4493-9101-8F6F3244F2F3}"/>
              </a:ext>
            </a:extLst>
          </p:cNvPr>
          <p:cNvSpPr>
            <a:spLocks noGrp="1"/>
          </p:cNvSpPr>
          <p:nvPr>
            <p:ph idx="1"/>
          </p:nvPr>
        </p:nvSpPr>
        <p:spPr>
          <a:xfrm>
            <a:off x="571870" y="431831"/>
            <a:ext cx="10515600" cy="1621130"/>
          </a:xfrm>
        </p:spPr>
        <p:txBody>
          <a:bodyPr>
            <a:normAutofit lnSpcReduction="10000"/>
          </a:bodyPr>
          <a:lstStyle/>
          <a:p>
            <a:pPr marL="0" indent="0">
              <a:buNone/>
            </a:pPr>
            <a:r>
              <a:rPr lang="tr-TR" sz="2000" dirty="0"/>
              <a:t>	</a:t>
            </a:r>
            <a:r>
              <a:rPr lang="tr-TR" sz="2000" b="1" u="sng" dirty="0">
                <a:solidFill>
                  <a:schemeClr val="tx1"/>
                </a:solidFill>
              </a:rPr>
              <a:t>3.Pull </a:t>
            </a:r>
            <a:r>
              <a:rPr lang="tr-TR" sz="2000" b="1" u="sng" dirty="0" err="1">
                <a:solidFill>
                  <a:schemeClr val="tx1"/>
                </a:solidFill>
              </a:rPr>
              <a:t>Request</a:t>
            </a:r>
            <a:r>
              <a:rPr lang="tr-TR" sz="2000" b="1" u="sng" dirty="0">
                <a:solidFill>
                  <a:schemeClr val="tx1"/>
                </a:solidFill>
              </a:rPr>
              <a:t> ve İnceleme</a:t>
            </a:r>
          </a:p>
          <a:p>
            <a:pPr marL="0" indent="0" algn="just">
              <a:buNone/>
            </a:pPr>
            <a:r>
              <a:rPr lang="tr-TR" sz="2000" dirty="0">
                <a:solidFill>
                  <a:schemeClr val="tx1"/>
                </a:solidFill>
              </a:rPr>
              <a:t>Ekip üyelerinizden gelen katkıları değerlendirmek ve projeye eklemek için "</a:t>
            </a:r>
            <a:r>
              <a:rPr lang="tr-TR" sz="2000" dirty="0" err="1">
                <a:solidFill>
                  <a:schemeClr val="tx1"/>
                </a:solidFill>
              </a:rPr>
              <a:t>Pull</a:t>
            </a:r>
            <a:r>
              <a:rPr lang="tr-TR" sz="2000" dirty="0">
                <a:solidFill>
                  <a:schemeClr val="tx1"/>
                </a:solidFill>
              </a:rPr>
              <a:t> </a:t>
            </a:r>
            <a:r>
              <a:rPr lang="tr-TR" sz="2000" dirty="0" err="1">
                <a:solidFill>
                  <a:schemeClr val="tx1"/>
                </a:solidFill>
              </a:rPr>
              <a:t>Request</a:t>
            </a:r>
            <a:r>
              <a:rPr lang="tr-TR" sz="2000" dirty="0">
                <a:solidFill>
                  <a:schemeClr val="tx1"/>
                </a:solidFill>
              </a:rPr>
              <a:t>" oluşturabilirsiniz. Bu, ekip içi işbirliğini ve kod kalitesini artırmak için harika bir yöntemdir. "</a:t>
            </a:r>
            <a:r>
              <a:rPr lang="tr-TR" sz="2000" dirty="0" err="1">
                <a:solidFill>
                  <a:schemeClr val="tx1"/>
                </a:solidFill>
              </a:rPr>
              <a:t>Pull</a:t>
            </a:r>
            <a:r>
              <a:rPr lang="tr-TR" sz="2000" dirty="0">
                <a:solidFill>
                  <a:schemeClr val="tx1"/>
                </a:solidFill>
              </a:rPr>
              <a:t> </a:t>
            </a:r>
            <a:r>
              <a:rPr lang="tr-TR" sz="2000" dirty="0" err="1">
                <a:solidFill>
                  <a:schemeClr val="tx1"/>
                </a:solidFill>
              </a:rPr>
              <a:t>request</a:t>
            </a:r>
            <a:r>
              <a:rPr lang="tr-TR" sz="2000" dirty="0">
                <a:solidFill>
                  <a:schemeClr val="tx1"/>
                </a:solidFill>
              </a:rPr>
              <a:t>" oluşturduktan sonra, diğer ekip üyeleri bu değişiklikleri inceleyebilir ve geri bildirimde bulunabilir.</a:t>
            </a:r>
          </a:p>
          <a:p>
            <a:endParaRPr lang="tr-TR" sz="2000" dirty="0"/>
          </a:p>
        </p:txBody>
      </p:sp>
      <p:pic>
        <p:nvPicPr>
          <p:cNvPr id="6" name="Resim 5">
            <a:extLst>
              <a:ext uri="{FF2B5EF4-FFF2-40B4-BE49-F238E27FC236}">
                <a16:creationId xmlns:a16="http://schemas.microsoft.com/office/drawing/2014/main" id="{7A784ACB-439E-44E7-A4C1-A3F167F24D5E}"/>
              </a:ext>
            </a:extLst>
          </p:cNvPr>
          <p:cNvPicPr>
            <a:picLocks noChangeAspect="1"/>
          </p:cNvPicPr>
          <p:nvPr/>
        </p:nvPicPr>
        <p:blipFill>
          <a:blip r:embed="rId2"/>
          <a:stretch>
            <a:fillRect/>
          </a:stretch>
        </p:blipFill>
        <p:spPr>
          <a:xfrm>
            <a:off x="442496" y="2286262"/>
            <a:ext cx="6675240" cy="1621130"/>
          </a:xfrm>
          <a:prstGeom prst="rect">
            <a:avLst/>
          </a:prstGeom>
        </p:spPr>
      </p:pic>
      <p:pic>
        <p:nvPicPr>
          <p:cNvPr id="7" name="Resim 6">
            <a:extLst>
              <a:ext uri="{FF2B5EF4-FFF2-40B4-BE49-F238E27FC236}">
                <a16:creationId xmlns:a16="http://schemas.microsoft.com/office/drawing/2014/main" id="{D5FFA4F5-BBFE-40F1-BF63-051587F05799}"/>
              </a:ext>
            </a:extLst>
          </p:cNvPr>
          <p:cNvPicPr>
            <a:picLocks noChangeAspect="1"/>
          </p:cNvPicPr>
          <p:nvPr/>
        </p:nvPicPr>
        <p:blipFill>
          <a:blip r:embed="rId3"/>
          <a:stretch>
            <a:fillRect/>
          </a:stretch>
        </p:blipFill>
        <p:spPr>
          <a:xfrm>
            <a:off x="454277" y="4403324"/>
            <a:ext cx="6663459" cy="2172565"/>
          </a:xfrm>
          <a:prstGeom prst="rect">
            <a:avLst/>
          </a:prstGeom>
        </p:spPr>
      </p:pic>
      <p:pic>
        <p:nvPicPr>
          <p:cNvPr id="8" name="Resim 7">
            <a:extLst>
              <a:ext uri="{FF2B5EF4-FFF2-40B4-BE49-F238E27FC236}">
                <a16:creationId xmlns:a16="http://schemas.microsoft.com/office/drawing/2014/main" id="{8D4C6CF8-2F19-4F9F-9D10-871B64B2D252}"/>
              </a:ext>
            </a:extLst>
          </p:cNvPr>
          <p:cNvPicPr>
            <a:picLocks noChangeAspect="1"/>
          </p:cNvPicPr>
          <p:nvPr/>
        </p:nvPicPr>
        <p:blipFill>
          <a:blip r:embed="rId4"/>
          <a:stretch>
            <a:fillRect/>
          </a:stretch>
        </p:blipFill>
        <p:spPr>
          <a:xfrm>
            <a:off x="7375189" y="2892486"/>
            <a:ext cx="4608975" cy="2597121"/>
          </a:xfrm>
          <a:prstGeom prst="rect">
            <a:avLst/>
          </a:prstGeom>
        </p:spPr>
      </p:pic>
      <p:cxnSp>
        <p:nvCxnSpPr>
          <p:cNvPr id="9" name="Düz Ok Bağlayıcısı 8">
            <a:extLst>
              <a:ext uri="{FF2B5EF4-FFF2-40B4-BE49-F238E27FC236}">
                <a16:creationId xmlns:a16="http://schemas.microsoft.com/office/drawing/2014/main" id="{1F512FE6-9CCD-4ADE-ADC2-E840775C78BE}"/>
              </a:ext>
            </a:extLst>
          </p:cNvPr>
          <p:cNvCxnSpPr>
            <a:cxnSpLocks/>
          </p:cNvCxnSpPr>
          <p:nvPr/>
        </p:nvCxnSpPr>
        <p:spPr>
          <a:xfrm>
            <a:off x="3666478" y="3803101"/>
            <a:ext cx="0" cy="680122"/>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Düz Ok Bağlayıcısı 9">
            <a:extLst>
              <a:ext uri="{FF2B5EF4-FFF2-40B4-BE49-F238E27FC236}">
                <a16:creationId xmlns:a16="http://schemas.microsoft.com/office/drawing/2014/main" id="{F469C54D-92B9-47C9-964A-DD3E26FC3210}"/>
              </a:ext>
            </a:extLst>
          </p:cNvPr>
          <p:cNvCxnSpPr>
            <a:cxnSpLocks/>
          </p:cNvCxnSpPr>
          <p:nvPr/>
        </p:nvCxnSpPr>
        <p:spPr>
          <a:xfrm flipV="1">
            <a:off x="6814536" y="5228948"/>
            <a:ext cx="864648" cy="749445"/>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1C180C73-ABFB-4A2F-BAAA-F74E3BB347F9}"/>
              </a:ext>
            </a:extLst>
          </p:cNvPr>
          <p:cNvSpPr/>
          <p:nvPr/>
        </p:nvSpPr>
        <p:spPr>
          <a:xfrm>
            <a:off x="6021054" y="5200566"/>
            <a:ext cx="1096681" cy="498897"/>
          </a:xfrm>
          <a:prstGeom prst="ellipse">
            <a:avLst/>
          </a:prstGeom>
          <a:noFill/>
          <a:ln w="571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tr-TR" dirty="0"/>
          </a:p>
        </p:txBody>
      </p:sp>
      <p:sp>
        <p:nvSpPr>
          <p:cNvPr id="15" name="Oval 14">
            <a:extLst>
              <a:ext uri="{FF2B5EF4-FFF2-40B4-BE49-F238E27FC236}">
                <a16:creationId xmlns:a16="http://schemas.microsoft.com/office/drawing/2014/main" id="{B3F915CE-E694-4EFB-A879-48EA076C9EC9}"/>
              </a:ext>
            </a:extLst>
          </p:cNvPr>
          <p:cNvSpPr/>
          <p:nvPr/>
        </p:nvSpPr>
        <p:spPr>
          <a:xfrm>
            <a:off x="6172847" y="3561868"/>
            <a:ext cx="1071315" cy="415328"/>
          </a:xfrm>
          <a:prstGeom prst="ellipse">
            <a:avLst/>
          </a:prstGeom>
          <a:noFill/>
          <a:ln w="571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tr-TR" dirty="0"/>
          </a:p>
        </p:txBody>
      </p:sp>
    </p:spTree>
    <p:extLst>
      <p:ext uri="{BB962C8B-B14F-4D97-AF65-F5344CB8AC3E}">
        <p14:creationId xmlns:p14="http://schemas.microsoft.com/office/powerpoint/2010/main" val="27644737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ikdörtgen 5">
            <a:extLst>
              <a:ext uri="{FF2B5EF4-FFF2-40B4-BE49-F238E27FC236}">
                <a16:creationId xmlns:a16="http://schemas.microsoft.com/office/drawing/2014/main" id="{DD04D822-83EF-4F3B-BDDB-E1B686C7C76D}"/>
              </a:ext>
            </a:extLst>
          </p:cNvPr>
          <p:cNvSpPr/>
          <p:nvPr/>
        </p:nvSpPr>
        <p:spPr>
          <a:xfrm>
            <a:off x="587402" y="338758"/>
            <a:ext cx="11211019" cy="1667595"/>
          </a:xfrm>
          <a:prstGeom prst="rect">
            <a:avLst/>
          </a:prstGeom>
        </p:spPr>
        <p:txBody>
          <a:bodyPr wrap="square">
            <a:spAutoFit/>
          </a:bodyPr>
          <a:lstStyle/>
          <a:p>
            <a:r>
              <a:rPr lang="tr-TR" sz="2000" dirty="0"/>
              <a:t>	</a:t>
            </a:r>
            <a:r>
              <a:rPr lang="tr-TR" sz="2000" b="1" u="sng" dirty="0"/>
              <a:t>4.Issues ve Proje Yönetimi</a:t>
            </a:r>
          </a:p>
          <a:p>
            <a:pPr algn="just"/>
            <a:r>
              <a:rPr lang="tr-TR" sz="2000" dirty="0"/>
              <a:t>Projelerinizde karşılaştığınız sorunları ve yapılacak görevleri "</a:t>
            </a:r>
            <a:r>
              <a:rPr lang="tr-TR" sz="2000" dirty="0" err="1"/>
              <a:t>Issues</a:t>
            </a:r>
            <a:r>
              <a:rPr lang="tr-TR" sz="2000" dirty="0"/>
              <a:t>" sekmesi altında takip edebilirsiniz. Burada yeni bir </a:t>
            </a:r>
            <a:r>
              <a:rPr lang="tr-TR" sz="2000" dirty="0" err="1"/>
              <a:t>issue</a:t>
            </a:r>
            <a:r>
              <a:rPr lang="tr-TR" sz="2000" dirty="0"/>
              <a:t> oluşturabilir, mevcut olanları güncelleyebilir ve ekip arkadaşlarınızla işbirliği yapabilirsiniz. Ayrıca, projeleriniz için "</a:t>
            </a:r>
            <a:r>
              <a:rPr lang="tr-TR" sz="2000" dirty="0" err="1"/>
              <a:t>Projects</a:t>
            </a:r>
            <a:r>
              <a:rPr lang="tr-TR" sz="2000" dirty="0"/>
              <a:t>" sekmesini kullanarak görevlerinizi daha organize bir şekilde yönetebilirsiniz.</a:t>
            </a:r>
          </a:p>
        </p:txBody>
      </p:sp>
      <p:pic>
        <p:nvPicPr>
          <p:cNvPr id="7" name="Resim 6">
            <a:extLst>
              <a:ext uri="{FF2B5EF4-FFF2-40B4-BE49-F238E27FC236}">
                <a16:creationId xmlns:a16="http://schemas.microsoft.com/office/drawing/2014/main" id="{49780BDD-B6CF-47B3-A871-A74653C45829}"/>
              </a:ext>
            </a:extLst>
          </p:cNvPr>
          <p:cNvPicPr>
            <a:picLocks noChangeAspect="1"/>
          </p:cNvPicPr>
          <p:nvPr/>
        </p:nvPicPr>
        <p:blipFill rotWithShape="1">
          <a:blip r:embed="rId2"/>
          <a:srcRect r="23959"/>
          <a:stretch/>
        </p:blipFill>
        <p:spPr>
          <a:xfrm>
            <a:off x="3239433" y="3436674"/>
            <a:ext cx="5016800" cy="3113193"/>
          </a:xfrm>
          <a:prstGeom prst="rect">
            <a:avLst/>
          </a:prstGeom>
        </p:spPr>
      </p:pic>
      <p:pic>
        <p:nvPicPr>
          <p:cNvPr id="8" name="Resim 7">
            <a:extLst>
              <a:ext uri="{FF2B5EF4-FFF2-40B4-BE49-F238E27FC236}">
                <a16:creationId xmlns:a16="http://schemas.microsoft.com/office/drawing/2014/main" id="{5F104DE2-9F1C-4ACD-903C-165FB0E09ADD}"/>
              </a:ext>
            </a:extLst>
          </p:cNvPr>
          <p:cNvPicPr>
            <a:picLocks noChangeAspect="1"/>
          </p:cNvPicPr>
          <p:nvPr/>
        </p:nvPicPr>
        <p:blipFill rotWithShape="1">
          <a:blip r:embed="rId3"/>
          <a:srcRect b="41125"/>
          <a:stretch/>
        </p:blipFill>
        <p:spPr>
          <a:xfrm>
            <a:off x="2118802" y="2006353"/>
            <a:ext cx="7488882" cy="1422647"/>
          </a:xfrm>
          <a:prstGeom prst="rect">
            <a:avLst/>
          </a:prstGeom>
        </p:spPr>
      </p:pic>
      <p:sp>
        <p:nvSpPr>
          <p:cNvPr id="10" name="Oval 9">
            <a:extLst>
              <a:ext uri="{FF2B5EF4-FFF2-40B4-BE49-F238E27FC236}">
                <a16:creationId xmlns:a16="http://schemas.microsoft.com/office/drawing/2014/main" id="{F8EEECEE-1240-4003-BC73-2E7BAF71BCCF}"/>
              </a:ext>
            </a:extLst>
          </p:cNvPr>
          <p:cNvSpPr/>
          <p:nvPr/>
        </p:nvSpPr>
        <p:spPr>
          <a:xfrm>
            <a:off x="7528265" y="6229013"/>
            <a:ext cx="727968" cy="428644"/>
          </a:xfrm>
          <a:prstGeom prst="ellipse">
            <a:avLst/>
          </a:prstGeom>
          <a:noFill/>
          <a:ln w="571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tr-TR" dirty="0"/>
          </a:p>
        </p:txBody>
      </p:sp>
      <p:sp>
        <p:nvSpPr>
          <p:cNvPr id="11" name="Oval 10">
            <a:extLst>
              <a:ext uri="{FF2B5EF4-FFF2-40B4-BE49-F238E27FC236}">
                <a16:creationId xmlns:a16="http://schemas.microsoft.com/office/drawing/2014/main" id="{07471622-5711-41C3-8BA5-DAFA888F1F96}"/>
              </a:ext>
            </a:extLst>
          </p:cNvPr>
          <p:cNvSpPr/>
          <p:nvPr/>
        </p:nvSpPr>
        <p:spPr>
          <a:xfrm>
            <a:off x="8371643" y="2603052"/>
            <a:ext cx="727968" cy="428644"/>
          </a:xfrm>
          <a:prstGeom prst="ellipse">
            <a:avLst/>
          </a:prstGeom>
          <a:noFill/>
          <a:ln w="571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tr-TR" dirty="0"/>
          </a:p>
        </p:txBody>
      </p:sp>
      <p:cxnSp>
        <p:nvCxnSpPr>
          <p:cNvPr id="12" name="Düz Ok Bağlayıcısı 11">
            <a:extLst>
              <a:ext uri="{FF2B5EF4-FFF2-40B4-BE49-F238E27FC236}">
                <a16:creationId xmlns:a16="http://schemas.microsoft.com/office/drawing/2014/main" id="{7FFA3DD8-25A5-4EE1-8917-BE723C6CF596}"/>
              </a:ext>
            </a:extLst>
          </p:cNvPr>
          <p:cNvCxnSpPr>
            <a:cxnSpLocks/>
          </p:cNvCxnSpPr>
          <p:nvPr/>
        </p:nvCxnSpPr>
        <p:spPr>
          <a:xfrm>
            <a:off x="5663953" y="3277848"/>
            <a:ext cx="0" cy="52430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791906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a:extLst>
              <a:ext uri="{FF2B5EF4-FFF2-40B4-BE49-F238E27FC236}">
                <a16:creationId xmlns:a16="http://schemas.microsoft.com/office/drawing/2014/main" id="{51AA5B67-FAB1-47A5-976B-0AD23B99DF6E}"/>
              </a:ext>
            </a:extLst>
          </p:cNvPr>
          <p:cNvSpPr>
            <a:spLocks noGrp="1"/>
          </p:cNvSpPr>
          <p:nvPr>
            <p:ph type="title"/>
          </p:nvPr>
        </p:nvSpPr>
        <p:spPr/>
        <p:txBody>
          <a:bodyPr/>
          <a:lstStyle/>
          <a:p>
            <a:pPr algn="ctr"/>
            <a:r>
              <a:rPr lang="tr-TR" u="sng" dirty="0">
                <a:solidFill>
                  <a:schemeClr val="tx1"/>
                </a:solidFill>
                <a:effectLst>
                  <a:outerShdw blurRad="38100" dist="38100" dir="2700000" algn="tl">
                    <a:srgbClr val="000000">
                      <a:alpha val="43137"/>
                    </a:srgbClr>
                  </a:outerShdw>
                </a:effectLst>
              </a:rPr>
              <a:t>KAYNAKÇA</a:t>
            </a:r>
          </a:p>
        </p:txBody>
      </p:sp>
      <p:sp>
        <p:nvSpPr>
          <p:cNvPr id="3" name="İçerik Yer Tutucusu 2">
            <a:extLst>
              <a:ext uri="{FF2B5EF4-FFF2-40B4-BE49-F238E27FC236}">
                <a16:creationId xmlns:a16="http://schemas.microsoft.com/office/drawing/2014/main" id="{C5225F31-83A1-40DB-BA13-A34F393B22BA}"/>
              </a:ext>
            </a:extLst>
          </p:cNvPr>
          <p:cNvSpPr>
            <a:spLocks noGrp="1"/>
          </p:cNvSpPr>
          <p:nvPr>
            <p:ph idx="1"/>
          </p:nvPr>
        </p:nvSpPr>
        <p:spPr>
          <a:xfrm>
            <a:off x="740546" y="1690688"/>
            <a:ext cx="10515600" cy="4351338"/>
          </a:xfrm>
        </p:spPr>
        <p:txBody>
          <a:bodyPr>
            <a:normAutofit/>
          </a:bodyPr>
          <a:lstStyle/>
          <a:p>
            <a:pPr>
              <a:buClrTx/>
            </a:pPr>
            <a:r>
              <a:rPr lang="tr-TR" sz="2000" dirty="0">
                <a:solidFill>
                  <a:schemeClr val="tx1"/>
                </a:solidFill>
              </a:rPr>
              <a:t>(tarih yok). </a:t>
            </a:r>
            <a:r>
              <a:rPr lang="tr-TR" sz="2000" dirty="0" err="1">
                <a:solidFill>
                  <a:schemeClr val="tx1"/>
                </a:solidFill>
              </a:rPr>
              <a:t>coderspace</a:t>
            </a:r>
            <a:r>
              <a:rPr lang="tr-TR" sz="2000" dirty="0">
                <a:solidFill>
                  <a:schemeClr val="tx1"/>
                </a:solidFill>
              </a:rPr>
              <a:t>: </a:t>
            </a:r>
            <a:r>
              <a:rPr lang="tr-TR" sz="2000" dirty="0">
                <a:solidFill>
                  <a:schemeClr val="tx1"/>
                </a:solidFill>
                <a:hlinkClick r:id="rId2">
                  <a:extLst>
                    <a:ext uri="{A12FA001-AC4F-418D-AE19-62706E023703}">
                      <ahyp:hlinkClr xmlns:ahyp="http://schemas.microsoft.com/office/drawing/2018/hyperlinkcolor" val="tx"/>
                    </a:ext>
                  </a:extLst>
                </a:hlinkClick>
              </a:rPr>
              <a:t>https://coderspace.io/sozluk/github</a:t>
            </a:r>
            <a:r>
              <a:rPr lang="tr-TR" sz="2000" dirty="0">
                <a:solidFill>
                  <a:schemeClr val="tx1"/>
                </a:solidFill>
              </a:rPr>
              <a:t>/ adresinden alındı</a:t>
            </a:r>
          </a:p>
          <a:p>
            <a:pPr>
              <a:buClrTx/>
            </a:pPr>
            <a:r>
              <a:rPr lang="tr-TR" sz="2000" dirty="0">
                <a:solidFill>
                  <a:schemeClr val="tx1"/>
                </a:solidFill>
              </a:rPr>
              <a:t>(2019, 5 21). Tolga ÇIBIKÇI: </a:t>
            </a:r>
            <a:r>
              <a:rPr lang="tr-TR" sz="2000" dirty="0">
                <a:solidFill>
                  <a:schemeClr val="tx1"/>
                </a:solidFill>
                <a:hlinkClick r:id="rId3">
                  <a:extLst>
                    <a:ext uri="{A12FA001-AC4F-418D-AE19-62706E023703}">
                      <ahyp:hlinkClr xmlns:ahyp="http://schemas.microsoft.com/office/drawing/2018/hyperlinkcolor" val="tx"/>
                    </a:ext>
                  </a:extLst>
                </a:hlinkClick>
              </a:rPr>
              <a:t>https://www.tolgacibikci.com/git-nedir-nasil-kurulur/ </a:t>
            </a:r>
            <a:r>
              <a:rPr lang="tr-TR" sz="2000" dirty="0">
                <a:solidFill>
                  <a:schemeClr val="tx1"/>
                </a:solidFill>
              </a:rPr>
              <a:t>adresinden alındı</a:t>
            </a:r>
          </a:p>
          <a:p>
            <a:pPr>
              <a:buClrTx/>
            </a:pPr>
            <a:r>
              <a:rPr lang="tr-TR" sz="2000" dirty="0">
                <a:solidFill>
                  <a:schemeClr val="tx1"/>
                </a:solidFill>
              </a:rPr>
              <a:t>BULUT, C. (2021, 7 18). </a:t>
            </a:r>
            <a:r>
              <a:rPr lang="tr-TR" sz="2000" dirty="0" err="1">
                <a:solidFill>
                  <a:schemeClr val="tx1"/>
                </a:solidFill>
              </a:rPr>
              <a:t>argenova</a:t>
            </a:r>
            <a:r>
              <a:rPr lang="tr-TR" sz="2000" dirty="0">
                <a:solidFill>
                  <a:schemeClr val="tx1"/>
                </a:solidFill>
              </a:rPr>
              <a:t>: </a:t>
            </a:r>
            <a:r>
              <a:rPr lang="tr-TR" sz="2000" dirty="0">
                <a:solidFill>
                  <a:schemeClr val="tx1"/>
                </a:solidFill>
                <a:hlinkClick r:id="rId4">
                  <a:extLst>
                    <a:ext uri="{A12FA001-AC4F-418D-AE19-62706E023703}">
                      <ahyp:hlinkClr xmlns:ahyp="http://schemas.microsoft.com/office/drawing/2018/hyperlinkcolor" val="tx"/>
                    </a:ext>
                  </a:extLst>
                </a:hlinkClick>
              </a:rPr>
              <a:t>https://argenova.com.tr/en-cok-kullanilan-git-komutlari-ornekli </a:t>
            </a:r>
            <a:r>
              <a:rPr lang="tr-TR" sz="2000" dirty="0">
                <a:solidFill>
                  <a:schemeClr val="tx1"/>
                </a:solidFill>
              </a:rPr>
              <a:t>adresinden alındı</a:t>
            </a:r>
          </a:p>
          <a:p>
            <a:pPr>
              <a:buClrTx/>
            </a:pPr>
            <a:r>
              <a:rPr lang="tr-TR" sz="2000" dirty="0">
                <a:solidFill>
                  <a:schemeClr val="tx1"/>
                </a:solidFill>
              </a:rPr>
              <a:t>(2023, 8 20). Youtube: </a:t>
            </a:r>
            <a:r>
              <a:rPr lang="tr-TR" sz="2000" dirty="0">
                <a:solidFill>
                  <a:schemeClr val="tx1"/>
                </a:solidFill>
                <a:hlinkClick r:id="rId5">
                  <a:extLst>
                    <a:ext uri="{A12FA001-AC4F-418D-AE19-62706E023703}">
                      <ahyp:hlinkClr xmlns:ahyp="http://schemas.microsoft.com/office/drawing/2018/hyperlinkcolor" val="tx"/>
                    </a:ext>
                  </a:extLst>
                </a:hlinkClick>
              </a:rPr>
              <a:t>https://youtu.be/XCFaI2Zn2L4?si=58qT99qv22cEK9tF </a:t>
            </a:r>
            <a:r>
              <a:rPr lang="tr-TR" sz="2000" dirty="0">
                <a:solidFill>
                  <a:schemeClr val="tx1"/>
                </a:solidFill>
              </a:rPr>
              <a:t>adresinden alındı</a:t>
            </a:r>
          </a:p>
          <a:p>
            <a:pPr>
              <a:buClrTx/>
            </a:pPr>
            <a:r>
              <a:rPr lang="tr-TR" sz="2000" dirty="0">
                <a:solidFill>
                  <a:schemeClr val="tx1"/>
                </a:solidFill>
              </a:rPr>
              <a:t>(2024, 12 11). </a:t>
            </a:r>
            <a:r>
              <a:rPr lang="tr-TR" sz="2000" dirty="0" err="1">
                <a:solidFill>
                  <a:schemeClr val="tx1"/>
                </a:solidFill>
              </a:rPr>
              <a:t>Vikipedi</a:t>
            </a:r>
            <a:r>
              <a:rPr lang="tr-TR" sz="2000" dirty="0">
                <a:solidFill>
                  <a:schemeClr val="tx1"/>
                </a:solidFill>
              </a:rPr>
              <a:t>: </a:t>
            </a:r>
            <a:r>
              <a:rPr lang="tr-TR" sz="2000" dirty="0">
                <a:solidFill>
                  <a:schemeClr val="tx1"/>
                </a:solidFill>
                <a:hlinkClick r:id="rId6">
                  <a:extLst>
                    <a:ext uri="{A12FA001-AC4F-418D-AE19-62706E023703}">
                      <ahyp:hlinkClr xmlns:ahyp="http://schemas.microsoft.com/office/drawing/2018/hyperlinkcolor" val="tx"/>
                    </a:ext>
                  </a:extLst>
                </a:hlinkClick>
              </a:rPr>
              <a:t>https://tr.wikipedia.org/wiki/Git_(yaz%C4%B1l%C4%B1m)</a:t>
            </a:r>
            <a:r>
              <a:rPr lang="tr-TR" sz="2000" dirty="0">
                <a:solidFill>
                  <a:schemeClr val="tx1"/>
                </a:solidFill>
              </a:rPr>
              <a:t> adresinden alındı</a:t>
            </a:r>
          </a:p>
          <a:p>
            <a:pPr>
              <a:buClrTx/>
            </a:pPr>
            <a:r>
              <a:rPr lang="tr-TR" sz="2000" dirty="0">
                <a:solidFill>
                  <a:schemeClr val="tx1"/>
                </a:solidFill>
              </a:rPr>
              <a:t>(2025). techcareer.net: </a:t>
            </a:r>
            <a:r>
              <a:rPr lang="tr-TR" sz="2000" dirty="0">
                <a:solidFill>
                  <a:schemeClr val="tx1"/>
                </a:solidFill>
                <a:hlinkClick r:id="rId7">
                  <a:extLst>
                    <a:ext uri="{A12FA001-AC4F-418D-AE19-62706E023703}">
                      <ahyp:hlinkClr xmlns:ahyp="http://schemas.microsoft.com/office/drawing/2018/hyperlinkcolor" val="tx"/>
                    </a:ext>
                  </a:extLst>
                </a:hlinkClick>
              </a:rPr>
              <a:t>https://www.techcareer.net/blog/git-nedir-nasil-kullanilir </a:t>
            </a:r>
            <a:r>
              <a:rPr lang="tr-TR" sz="2000" dirty="0">
                <a:solidFill>
                  <a:schemeClr val="tx1"/>
                </a:solidFill>
              </a:rPr>
              <a:t>adresinden alındı</a:t>
            </a:r>
          </a:p>
          <a:p>
            <a:endParaRPr lang="tr-TR" dirty="0"/>
          </a:p>
        </p:txBody>
      </p:sp>
    </p:spTree>
    <p:extLst>
      <p:ext uri="{BB962C8B-B14F-4D97-AF65-F5344CB8AC3E}">
        <p14:creationId xmlns:p14="http://schemas.microsoft.com/office/powerpoint/2010/main" val="7554561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Unvan 4">
            <a:extLst>
              <a:ext uri="{FF2B5EF4-FFF2-40B4-BE49-F238E27FC236}">
                <a16:creationId xmlns:a16="http://schemas.microsoft.com/office/drawing/2014/main" id="{FE86991B-D120-43CB-AE1F-4600DCC7E8D7}"/>
              </a:ext>
            </a:extLst>
          </p:cNvPr>
          <p:cNvSpPr>
            <a:spLocks noGrp="1"/>
          </p:cNvSpPr>
          <p:nvPr>
            <p:ph type="ctrTitle"/>
          </p:nvPr>
        </p:nvSpPr>
        <p:spPr/>
        <p:txBody>
          <a:bodyPr/>
          <a:lstStyle/>
          <a:p>
            <a:r>
              <a:rPr lang="tr-TR" dirty="0">
                <a:solidFill>
                  <a:schemeClr val="tx1"/>
                </a:solidFill>
              </a:rPr>
              <a:t>TEŞEKKÜRLER</a:t>
            </a:r>
          </a:p>
        </p:txBody>
      </p:sp>
      <p:sp>
        <p:nvSpPr>
          <p:cNvPr id="6" name="Alt Başlık 5">
            <a:extLst>
              <a:ext uri="{FF2B5EF4-FFF2-40B4-BE49-F238E27FC236}">
                <a16:creationId xmlns:a16="http://schemas.microsoft.com/office/drawing/2014/main" id="{58CFF1A6-8F4E-43F8-969C-F8080693B234}"/>
              </a:ext>
            </a:extLst>
          </p:cNvPr>
          <p:cNvSpPr>
            <a:spLocks noGrp="1"/>
          </p:cNvSpPr>
          <p:nvPr>
            <p:ph type="subTitle" idx="1"/>
          </p:nvPr>
        </p:nvSpPr>
        <p:spPr/>
        <p:txBody>
          <a:bodyPr>
            <a:normAutofit/>
          </a:bodyPr>
          <a:lstStyle/>
          <a:p>
            <a:r>
              <a:rPr lang="tr-TR" sz="3600" dirty="0">
                <a:solidFill>
                  <a:schemeClr val="tx1"/>
                </a:solidFill>
              </a:rPr>
              <a:t>OĞUZ TERZİ</a:t>
            </a:r>
          </a:p>
          <a:p>
            <a:r>
              <a:rPr lang="tr-TR" sz="3600" dirty="0">
                <a:solidFill>
                  <a:schemeClr val="tx1"/>
                </a:solidFill>
              </a:rPr>
              <a:t>231325057</a:t>
            </a:r>
          </a:p>
        </p:txBody>
      </p:sp>
    </p:spTree>
    <p:extLst>
      <p:ext uri="{BB962C8B-B14F-4D97-AF65-F5344CB8AC3E}">
        <p14:creationId xmlns:p14="http://schemas.microsoft.com/office/powerpoint/2010/main" val="3996986120"/>
      </p:ext>
    </p:extLst>
  </p:cSld>
  <p:clrMapOvr>
    <a:masterClrMapping/>
  </p:clrMapOvr>
</p:sld>
</file>

<file path=ppt/theme/theme1.xml><?xml version="1.0" encoding="utf-8"?>
<a:theme xmlns:a="http://schemas.openxmlformats.org/drawingml/2006/main" name="Temel">
  <a:themeElements>
    <a:clrScheme name="Kırmızı Turuncu">
      <a:dk1>
        <a:sysClr val="windowText" lastClr="000000"/>
      </a:dk1>
      <a:lt1>
        <a:sysClr val="window" lastClr="FFFFFF"/>
      </a:lt1>
      <a:dk2>
        <a:srgbClr val="505046"/>
      </a:dk2>
      <a:lt2>
        <a:srgbClr val="EEECE1"/>
      </a:lt2>
      <a:accent1>
        <a:srgbClr val="E84C22"/>
      </a:accent1>
      <a:accent2>
        <a:srgbClr val="FFBD47"/>
      </a:accent2>
      <a:accent3>
        <a:srgbClr val="B64926"/>
      </a:accent3>
      <a:accent4>
        <a:srgbClr val="FF8427"/>
      </a:accent4>
      <a:accent5>
        <a:srgbClr val="CC9900"/>
      </a:accent5>
      <a:accent6>
        <a:srgbClr val="B22600"/>
      </a:accent6>
      <a:hlink>
        <a:srgbClr val="CC9900"/>
      </a:hlink>
      <a:folHlink>
        <a:srgbClr val="666699"/>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Temel">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90E45F77-AEFC-46EF-A7C1-5B338C297B02}"/>
    </a:ext>
  </a:extLst>
</a:theme>
</file>

<file path=docProps/app.xml><?xml version="1.0" encoding="utf-8"?>
<Properties xmlns="http://schemas.openxmlformats.org/officeDocument/2006/extended-properties" xmlns:vt="http://schemas.openxmlformats.org/officeDocument/2006/docPropsVTypes">
  <Template>Temel</Template>
  <TotalTime>528</TotalTime>
  <Words>946</Words>
  <Application>Microsoft Office PowerPoint</Application>
  <PresentationFormat>Geniş ekran</PresentationFormat>
  <Paragraphs>74</Paragraphs>
  <Slides>16</Slides>
  <Notes>0</Notes>
  <HiddenSlides>0</HiddenSlides>
  <MMClips>0</MMClips>
  <ScaleCrop>false</ScaleCrop>
  <HeadingPairs>
    <vt:vector size="6" baseType="variant">
      <vt:variant>
        <vt:lpstr>Kullanılan Yazı Tipleri</vt:lpstr>
      </vt:variant>
      <vt:variant>
        <vt:i4>4</vt:i4>
      </vt:variant>
      <vt:variant>
        <vt:lpstr>Tema</vt:lpstr>
      </vt:variant>
      <vt:variant>
        <vt:i4>1</vt:i4>
      </vt:variant>
      <vt:variant>
        <vt:lpstr>Slayt Başlıkları</vt:lpstr>
      </vt:variant>
      <vt:variant>
        <vt:i4>16</vt:i4>
      </vt:variant>
    </vt:vector>
  </HeadingPairs>
  <TitlesOfParts>
    <vt:vector size="21" baseType="lpstr">
      <vt:lpstr>Arial</vt:lpstr>
      <vt:lpstr>Calibri</vt:lpstr>
      <vt:lpstr>Corbel</vt:lpstr>
      <vt:lpstr>Wingdings</vt:lpstr>
      <vt:lpstr>Temel</vt:lpstr>
      <vt:lpstr>PowerPoint Sunusu</vt:lpstr>
      <vt:lpstr>İçindekiler</vt:lpstr>
      <vt:lpstr>GİT</vt:lpstr>
      <vt:lpstr>Git’in Temini ve Kurulumu</vt:lpstr>
      <vt:lpstr>PowerPoint Sunusu</vt:lpstr>
      <vt:lpstr>PowerPoint Sunusu</vt:lpstr>
      <vt:lpstr>PowerPoint Sunusu</vt:lpstr>
      <vt:lpstr>Git Nasıl Kullanılır</vt:lpstr>
      <vt:lpstr>PowerPoint Sunusu</vt:lpstr>
      <vt:lpstr>GitHub</vt:lpstr>
      <vt:lpstr>GitHub Nasıl Kullanılır?</vt:lpstr>
      <vt:lpstr>PowerPoint Sunusu</vt:lpstr>
      <vt:lpstr>PowerPoint Sunusu</vt:lpstr>
      <vt:lpstr>PowerPoint Sunusu</vt:lpstr>
      <vt:lpstr>KAYNAKÇA</vt:lpstr>
      <vt:lpstr>TEŞEKKÜRLER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Sunusu</dc:title>
  <dc:creator>Sena TERZİ</dc:creator>
  <cp:lastModifiedBy>Sena TERZİ</cp:lastModifiedBy>
  <cp:revision>34</cp:revision>
  <dcterms:created xsi:type="dcterms:W3CDTF">2025-03-04T13:01:49Z</dcterms:created>
  <dcterms:modified xsi:type="dcterms:W3CDTF">2025-03-04T21:52:31Z</dcterms:modified>
</cp:coreProperties>
</file>